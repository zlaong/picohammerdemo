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docProps/core.xml" ContentType="application/vnd.openxmlformats-package.core-properties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0" Type="http://schemas.openxmlformats.org/officeDocument/2006/relationships/presProps" Target="presProps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9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22" Type="http://schemas.openxmlformats.org/officeDocument/2006/relationships/viewProps" Target="viewProps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21" Type="http://schemas.openxmlformats.org/officeDocument/2006/relationships/tableStyles" Target="tableStyles.xml" /><Relationship Id="rId17" Type="http://schemas.openxmlformats.org/officeDocument/2006/relationships/slide" Target="slides/slide17.xml" /><Relationship Id="rId9" Type="http://schemas.openxmlformats.org/officeDocument/2006/relationships/slide" Target="slides/slide9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AF7F2', position: 'relative', overflow: 'hidden', fontFamily: '思源黑体' }}&gt;&#10;    &lt;Box style={{ position: 'absolute', left: 740, top: 50, width: 640, height: 640, borderRadius: 320, background: '#F97316' }} /&gt;&#10;    &lt;Box style={{ position: 'absolute', left: 980, top: 250, width: 260, height: 260, borderRadius: 130, background: '#EC4899' }} /&gt;&#10;    &lt;Box style={{ position: 'absolute', left: 792, top: 596, width: 84, height: 84, borderRadius: 42, background: '#FBBF24' }} /&gt;&#10;    &lt;Box style={{ position: 'absolute', left: 830, top: 258, width: 356, height: 204, borderRadius: 58, border: '6px solid #FFFFFF', background: 'rgba(255,255,255,0.14)' }} /&gt;&#10;    &lt;Box style={{ position: 'absolute', left: 898, top: 330, width: 62, height: 62, borderRadius: 31, background: '#FFFFFF' }} /&gt;&#10;    &lt;Box style={{ position: 'absolute', left: 1058, top: 330, width: 62, height: 62, borderRadius: 31, background: '#FFFFFF' }} /&gt;&#10;    &lt;Box style={{ position: 'absolute', left: 1206, top: 300, width: 46, height: 120, borderRadius: 23, background: 'rgba(255,255,255,0.55)' }} /&gt;&#10;&#10;    &lt;Box style={{ position: 'absolute', left: 80, top: 96, width: 640, height: 570, flexDirection: 'column', justifyContent: 'space-between' }}&gt;&#10;        &lt;Box style={{ flexDirection: 'column' }}&gt;&#10;            &lt;Text style={{ fontSize: 16, fontWeight: 'bold', color: '#F97316', letterSpacing: 5 }}&gt;PICO · UNITY · 新人培训&lt;/Text&gt;&#10;            &lt;Text style={{ fontSize: 72, fontWeight: 'bold', color: '#1A1A1A', lineHeight: 1.14, marginTop: 20 }}&gt;&#10;                不写代码，&lt;br /&gt;也能做出&lt;br /&gt;&lt;span style={{ color: '#F97316' }}&gt;VR 游戏&lt;/span&gt;&#10;            &lt;/Text&gt;&#10;            &lt;Text style={{ fontSize: 22, color: '#6B6560', lineHeight: 1.55, marginTop: 24 }}&gt;你负责判断想要什么，&lt;br /&gt;AI 负责所有动手的部分。&lt;/Text&gt;&#10;        &lt;/Box&gt;&#10;&#10;        &lt;Box style={{ width: 640, height: 84, background: '#FFFFFF', borderRadius: 42, flexDirection: 'row', alignItems: 'center', justifyContent: 'space-around', boxShadow: '0 6px 20px rgba(26,26,26,0.06)' }}&gt;&#10;            &lt;Text style={{ fontSize: 17, color: '#1A1A1A', fontWeight: 'bold' }}&gt;不用学 Unity 界面&lt;/Text&gt;&#10;            &lt;Box style={{ width: 1, height: 26, background: '#E8E0D6' }} /&gt;&#10;            &lt;Text style={{ fontSize: 17, color: '#1A1A1A', fontWeight: 'bold' }}&gt;不用写代码&lt;/Text&gt;&#10;            &lt;Box style={{ width: 1, height: 26, background: '#E8E0D6' }} /&gt;&#10;            &lt;Text style={{ fontSize: 17, color: '#1A1A1A', fontWeight: 'bold' }}&gt;不用买头显&lt;/Text&gt;&#10;        &lt;/Box&gt;&#10;&#10;        &lt;Box style={{ flexDirection: 'row', alignItems: 'center', gap: 16 }}&gt;&#10;            &lt;Box style={{ width: 36, height: 3, background: '#F97316', borderRadius: 2 }} /&gt;&#10;            &lt;Text style={{ fontSize: 15, color: '#8A8178' }}&gt;适用：完全没碰过 Unity、不写代码的同学　·　预计 90 分钟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048500" y="476250"/>
            <a:ext cx="6096000" cy="6096000"/>
          </a:xfrm>
          <a:custGeom>
            <a:pathLst>
              <a:path w="640" h="640">
                <a:moveTo>
                  <a:pt x="328" y="0"/>
                </a:moveTo>
                <a:lnTo>
                  <a:pt x="336" y="0"/>
                </a:lnTo>
                <a:lnTo>
                  <a:pt x="345" y="1"/>
                </a:lnTo>
                <a:lnTo>
                  <a:pt x="353" y="2"/>
                </a:lnTo>
                <a:lnTo>
                  <a:pt x="361" y="3"/>
                </a:lnTo>
                <a:lnTo>
                  <a:pt x="369" y="4"/>
                </a:lnTo>
                <a:lnTo>
                  <a:pt x="377" y="5"/>
                </a:lnTo>
                <a:lnTo>
                  <a:pt x="384" y="7"/>
                </a:lnTo>
                <a:lnTo>
                  <a:pt x="392" y="8"/>
                </a:lnTo>
                <a:lnTo>
                  <a:pt x="400" y="10"/>
                </a:lnTo>
                <a:lnTo>
                  <a:pt x="408" y="12"/>
                </a:lnTo>
                <a:lnTo>
                  <a:pt x="415" y="14"/>
                </a:lnTo>
                <a:lnTo>
                  <a:pt x="423" y="17"/>
                </a:lnTo>
                <a:lnTo>
                  <a:pt x="430" y="19"/>
                </a:lnTo>
                <a:lnTo>
                  <a:pt x="437" y="22"/>
                </a:lnTo>
                <a:lnTo>
                  <a:pt x="445" y="25"/>
                </a:lnTo>
                <a:lnTo>
                  <a:pt x="452" y="28"/>
                </a:lnTo>
                <a:lnTo>
                  <a:pt x="459" y="32"/>
                </a:lnTo>
                <a:lnTo>
                  <a:pt x="466" y="35"/>
                </a:lnTo>
                <a:lnTo>
                  <a:pt x="472" y="39"/>
                </a:lnTo>
                <a:lnTo>
                  <a:pt x="479" y="42"/>
                </a:lnTo>
                <a:lnTo>
                  <a:pt x="486" y="46"/>
                </a:lnTo>
                <a:lnTo>
                  <a:pt x="492" y="50"/>
                </a:lnTo>
                <a:lnTo>
                  <a:pt x="499" y="55"/>
                </a:lnTo>
                <a:lnTo>
                  <a:pt x="505" y="59"/>
                </a:lnTo>
                <a:lnTo>
                  <a:pt x="511" y="64"/>
                </a:lnTo>
                <a:lnTo>
                  <a:pt x="518" y="68"/>
                </a:lnTo>
                <a:lnTo>
                  <a:pt x="524" y="73"/>
                </a:lnTo>
                <a:lnTo>
                  <a:pt x="529" y="78"/>
                </a:lnTo>
                <a:lnTo>
                  <a:pt x="535" y="83"/>
                </a:lnTo>
                <a:lnTo>
                  <a:pt x="540" y="88"/>
                </a:lnTo>
                <a:lnTo>
                  <a:pt x="540" y="552"/>
                </a:lnTo>
                <a:lnTo>
                  <a:pt x="535" y="557"/>
                </a:lnTo>
                <a:lnTo>
                  <a:pt x="529" y="562"/>
                </a:lnTo>
                <a:lnTo>
                  <a:pt x="524" y="567"/>
                </a:lnTo>
                <a:lnTo>
                  <a:pt x="518" y="572"/>
                </a:lnTo>
                <a:lnTo>
                  <a:pt x="511" y="576"/>
                </a:lnTo>
                <a:lnTo>
                  <a:pt x="505" y="581"/>
                </a:lnTo>
                <a:lnTo>
                  <a:pt x="499" y="585"/>
                </a:lnTo>
                <a:lnTo>
                  <a:pt x="492" y="590"/>
                </a:lnTo>
                <a:lnTo>
                  <a:pt x="486" y="594"/>
                </a:lnTo>
                <a:lnTo>
                  <a:pt x="479" y="598"/>
                </a:lnTo>
                <a:lnTo>
                  <a:pt x="472" y="601"/>
                </a:lnTo>
                <a:lnTo>
                  <a:pt x="466" y="605"/>
                </a:lnTo>
                <a:lnTo>
                  <a:pt x="459" y="608"/>
                </a:lnTo>
                <a:lnTo>
                  <a:pt x="452" y="612"/>
                </a:lnTo>
                <a:lnTo>
                  <a:pt x="445" y="615"/>
                </a:lnTo>
                <a:lnTo>
                  <a:pt x="437" y="618"/>
                </a:lnTo>
                <a:lnTo>
                  <a:pt x="430" y="621"/>
                </a:lnTo>
                <a:lnTo>
                  <a:pt x="423" y="623"/>
                </a:lnTo>
                <a:lnTo>
                  <a:pt x="415" y="626"/>
                </a:lnTo>
                <a:lnTo>
                  <a:pt x="408" y="628"/>
                </a:lnTo>
                <a:lnTo>
                  <a:pt x="400" y="630"/>
                </a:lnTo>
                <a:lnTo>
                  <a:pt x="392" y="632"/>
                </a:lnTo>
                <a:lnTo>
                  <a:pt x="384" y="633"/>
                </a:lnTo>
                <a:lnTo>
                  <a:pt x="377" y="635"/>
                </a:lnTo>
                <a:lnTo>
                  <a:pt x="369" y="636"/>
                </a:lnTo>
                <a:lnTo>
                  <a:pt x="361" y="637"/>
                </a:lnTo>
                <a:lnTo>
                  <a:pt x="353" y="638"/>
                </a:lnTo>
                <a:lnTo>
                  <a:pt x="345" y="639"/>
                </a:lnTo>
                <a:lnTo>
                  <a:pt x="336" y="640"/>
                </a:lnTo>
                <a:lnTo>
                  <a:pt x="328" y="640"/>
                </a:lnTo>
                <a:lnTo>
                  <a:pt x="320" y="640"/>
                </a:lnTo>
                <a:lnTo>
                  <a:pt x="312" y="640"/>
                </a:lnTo>
                <a:lnTo>
                  <a:pt x="304" y="640"/>
                </a:lnTo>
                <a:lnTo>
                  <a:pt x="295" y="639"/>
                </a:lnTo>
                <a:lnTo>
                  <a:pt x="287" y="638"/>
                </a:lnTo>
                <a:lnTo>
                  <a:pt x="279" y="637"/>
                </a:lnTo>
                <a:lnTo>
                  <a:pt x="271" y="636"/>
                </a:lnTo>
                <a:lnTo>
                  <a:pt x="263" y="635"/>
                </a:lnTo>
                <a:lnTo>
                  <a:pt x="256" y="633"/>
                </a:lnTo>
                <a:lnTo>
                  <a:pt x="248" y="632"/>
                </a:lnTo>
                <a:lnTo>
                  <a:pt x="240" y="630"/>
                </a:lnTo>
                <a:lnTo>
                  <a:pt x="232" y="628"/>
                </a:lnTo>
                <a:lnTo>
                  <a:pt x="225" y="626"/>
                </a:lnTo>
                <a:lnTo>
                  <a:pt x="217" y="623"/>
                </a:lnTo>
                <a:lnTo>
                  <a:pt x="210" y="621"/>
                </a:lnTo>
                <a:lnTo>
                  <a:pt x="203" y="618"/>
                </a:lnTo>
                <a:lnTo>
                  <a:pt x="195" y="615"/>
                </a:lnTo>
                <a:lnTo>
                  <a:pt x="188" y="612"/>
                </a:lnTo>
                <a:lnTo>
                  <a:pt x="181" y="608"/>
                </a:lnTo>
                <a:lnTo>
                  <a:pt x="174" y="605"/>
                </a:lnTo>
                <a:lnTo>
                  <a:pt x="168" y="601"/>
                </a:lnTo>
                <a:lnTo>
                  <a:pt x="161" y="598"/>
                </a:lnTo>
                <a:lnTo>
                  <a:pt x="154" y="594"/>
                </a:lnTo>
                <a:lnTo>
                  <a:pt x="148" y="590"/>
                </a:lnTo>
                <a:lnTo>
                  <a:pt x="141" y="585"/>
                </a:lnTo>
                <a:lnTo>
                  <a:pt x="135" y="581"/>
                </a:lnTo>
                <a:lnTo>
                  <a:pt x="129" y="576"/>
                </a:lnTo>
                <a:lnTo>
                  <a:pt x="122" y="572"/>
                </a:lnTo>
                <a:lnTo>
                  <a:pt x="116" y="567"/>
                </a:lnTo>
                <a:lnTo>
                  <a:pt x="111" y="562"/>
                </a:lnTo>
                <a:lnTo>
                  <a:pt x="105" y="557"/>
                </a:lnTo>
                <a:lnTo>
                  <a:pt x="99" y="552"/>
                </a:lnTo>
                <a:lnTo>
                  <a:pt x="94" y="546"/>
                </a:lnTo>
                <a:lnTo>
                  <a:pt x="88" y="541"/>
                </a:lnTo>
                <a:lnTo>
                  <a:pt x="83" y="535"/>
                </a:lnTo>
                <a:lnTo>
                  <a:pt x="78" y="529"/>
                </a:lnTo>
                <a:lnTo>
                  <a:pt x="73" y="524"/>
                </a:lnTo>
                <a:lnTo>
                  <a:pt x="68" y="518"/>
                </a:lnTo>
                <a:lnTo>
                  <a:pt x="64" y="511"/>
                </a:lnTo>
                <a:lnTo>
                  <a:pt x="59" y="505"/>
                </a:lnTo>
                <a:lnTo>
                  <a:pt x="55" y="499"/>
                </a:lnTo>
                <a:lnTo>
                  <a:pt x="50" y="492"/>
                </a:lnTo>
                <a:lnTo>
                  <a:pt x="46" y="486"/>
                </a:lnTo>
                <a:lnTo>
                  <a:pt x="42" y="479"/>
                </a:lnTo>
                <a:lnTo>
                  <a:pt x="39" y="472"/>
                </a:lnTo>
                <a:lnTo>
                  <a:pt x="35" y="466"/>
                </a:lnTo>
                <a:lnTo>
                  <a:pt x="32" y="459"/>
                </a:lnTo>
                <a:lnTo>
                  <a:pt x="28" y="452"/>
                </a:lnTo>
                <a:lnTo>
                  <a:pt x="25" y="445"/>
                </a:lnTo>
                <a:lnTo>
                  <a:pt x="22" y="437"/>
                </a:lnTo>
                <a:lnTo>
                  <a:pt x="19" y="430"/>
                </a:lnTo>
                <a:lnTo>
                  <a:pt x="17" y="423"/>
                </a:lnTo>
                <a:lnTo>
                  <a:pt x="14" y="415"/>
                </a:lnTo>
                <a:lnTo>
                  <a:pt x="12" y="408"/>
                </a:lnTo>
                <a:lnTo>
                  <a:pt x="10" y="400"/>
                </a:lnTo>
                <a:lnTo>
                  <a:pt x="8" y="392"/>
                </a:lnTo>
                <a:lnTo>
                  <a:pt x="7" y="384"/>
                </a:lnTo>
                <a:lnTo>
                  <a:pt x="5" y="377"/>
                </a:lnTo>
                <a:lnTo>
                  <a:pt x="4" y="369"/>
                </a:lnTo>
                <a:lnTo>
                  <a:pt x="3" y="361"/>
                </a:lnTo>
                <a:lnTo>
                  <a:pt x="2" y="353"/>
                </a:lnTo>
                <a:lnTo>
                  <a:pt x="1" y="345"/>
                </a:lnTo>
                <a:lnTo>
                  <a:pt x="0" y="336"/>
                </a:lnTo>
                <a:lnTo>
                  <a:pt x="0" y="328"/>
                </a:lnTo>
                <a:lnTo>
                  <a:pt x="0" y="320"/>
                </a:lnTo>
                <a:lnTo>
                  <a:pt x="0" y="312"/>
                </a:lnTo>
                <a:lnTo>
                  <a:pt x="0" y="304"/>
                </a:lnTo>
                <a:lnTo>
                  <a:pt x="1" y="295"/>
                </a:lnTo>
                <a:lnTo>
                  <a:pt x="2" y="287"/>
                </a:lnTo>
                <a:lnTo>
                  <a:pt x="3" y="279"/>
                </a:lnTo>
                <a:lnTo>
                  <a:pt x="4" y="271"/>
                </a:lnTo>
                <a:lnTo>
                  <a:pt x="5" y="263"/>
                </a:lnTo>
                <a:lnTo>
                  <a:pt x="7" y="256"/>
                </a:lnTo>
                <a:lnTo>
                  <a:pt x="8" y="248"/>
                </a:lnTo>
                <a:lnTo>
                  <a:pt x="10" y="240"/>
                </a:lnTo>
                <a:lnTo>
                  <a:pt x="12" y="232"/>
                </a:lnTo>
                <a:lnTo>
                  <a:pt x="14" y="225"/>
                </a:lnTo>
                <a:lnTo>
                  <a:pt x="17" y="217"/>
                </a:lnTo>
                <a:lnTo>
                  <a:pt x="19" y="210"/>
                </a:lnTo>
                <a:lnTo>
                  <a:pt x="22" y="203"/>
                </a:lnTo>
                <a:lnTo>
                  <a:pt x="25" y="195"/>
                </a:lnTo>
                <a:lnTo>
                  <a:pt x="28" y="188"/>
                </a:lnTo>
                <a:lnTo>
                  <a:pt x="32" y="181"/>
                </a:lnTo>
                <a:lnTo>
                  <a:pt x="35" y="174"/>
                </a:lnTo>
                <a:lnTo>
                  <a:pt x="39" y="168"/>
                </a:lnTo>
                <a:lnTo>
                  <a:pt x="42" y="161"/>
                </a:lnTo>
                <a:lnTo>
                  <a:pt x="46" y="154"/>
                </a:lnTo>
                <a:lnTo>
                  <a:pt x="50" y="148"/>
                </a:lnTo>
                <a:lnTo>
                  <a:pt x="55" y="141"/>
                </a:lnTo>
                <a:lnTo>
                  <a:pt x="59" y="135"/>
                </a:lnTo>
                <a:lnTo>
                  <a:pt x="64" y="129"/>
                </a:lnTo>
                <a:lnTo>
                  <a:pt x="68" y="122"/>
                </a:lnTo>
                <a:lnTo>
                  <a:pt x="73" y="116"/>
                </a:lnTo>
                <a:lnTo>
                  <a:pt x="78" y="111"/>
                </a:lnTo>
                <a:lnTo>
                  <a:pt x="83" y="105"/>
                </a:lnTo>
                <a:lnTo>
                  <a:pt x="88" y="99"/>
                </a:lnTo>
                <a:lnTo>
                  <a:pt x="94" y="94"/>
                </a:lnTo>
                <a:lnTo>
                  <a:pt x="99" y="88"/>
                </a:lnTo>
                <a:lnTo>
                  <a:pt x="105" y="83"/>
                </a:lnTo>
                <a:lnTo>
                  <a:pt x="111" y="78"/>
                </a:lnTo>
                <a:lnTo>
                  <a:pt x="116" y="73"/>
                </a:lnTo>
                <a:lnTo>
                  <a:pt x="122" y="68"/>
                </a:lnTo>
                <a:lnTo>
                  <a:pt x="129" y="64"/>
                </a:lnTo>
                <a:lnTo>
                  <a:pt x="135" y="59"/>
                </a:lnTo>
                <a:lnTo>
                  <a:pt x="141" y="55"/>
                </a:lnTo>
                <a:lnTo>
                  <a:pt x="148" y="50"/>
                </a:lnTo>
                <a:lnTo>
                  <a:pt x="154" y="46"/>
                </a:lnTo>
                <a:lnTo>
                  <a:pt x="161" y="42"/>
                </a:lnTo>
                <a:lnTo>
                  <a:pt x="168" y="39"/>
                </a:lnTo>
                <a:lnTo>
                  <a:pt x="174" y="35"/>
                </a:lnTo>
                <a:lnTo>
                  <a:pt x="181" y="32"/>
                </a:lnTo>
                <a:lnTo>
                  <a:pt x="188" y="28"/>
                </a:lnTo>
                <a:lnTo>
                  <a:pt x="195" y="25"/>
                </a:lnTo>
                <a:lnTo>
                  <a:pt x="203" y="22"/>
                </a:lnTo>
                <a:lnTo>
                  <a:pt x="210" y="19"/>
                </a:lnTo>
                <a:lnTo>
                  <a:pt x="217" y="17"/>
                </a:lnTo>
                <a:lnTo>
                  <a:pt x="225" y="14"/>
                </a:lnTo>
                <a:lnTo>
                  <a:pt x="232" y="12"/>
                </a:lnTo>
                <a:lnTo>
                  <a:pt x="240" y="10"/>
                </a:lnTo>
                <a:lnTo>
                  <a:pt x="248" y="8"/>
                </a:lnTo>
                <a:lnTo>
                  <a:pt x="256" y="7"/>
                </a:lnTo>
                <a:lnTo>
                  <a:pt x="263" y="5"/>
                </a:lnTo>
                <a:lnTo>
                  <a:pt x="271" y="4"/>
                </a:lnTo>
                <a:lnTo>
                  <a:pt x="279" y="3"/>
                </a:lnTo>
                <a:lnTo>
                  <a:pt x="287" y="2"/>
                </a:lnTo>
                <a:lnTo>
                  <a:pt x="295" y="1"/>
                </a:lnTo>
                <a:lnTo>
                  <a:pt x="304" y="0"/>
                </a:lnTo>
                <a:lnTo>
                  <a:pt x="312" y="0"/>
                </a:lnTo>
                <a:lnTo>
                  <a:pt x="320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9334500" y="238125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543800" y="567690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7905750" y="2457450"/>
            <a:ext cx="3390900" cy="1943100"/>
          </a:xfrm>
          <a:prstGeom prst="roundRect">
            <a:avLst>
              <a:gd name="adj" fmla="val 28431"/>
            </a:avLst>
          </a:prstGeom>
          <a:solidFill>
            <a:srgbClr val="FFFFFF">
              <a:alpha val="14000"/>
            </a:srgbClr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8553450" y="31432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10077450" y="31432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11487150" y="2857500"/>
            <a:ext cx="438150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609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75">
                <a:solidFill>
                  <a:srgbClr val="F97316"/>
                </a:solidFill>
                <a:latin typeface="思源黑体"/>
                <a:ea typeface="思源黑体"/>
              </a:rPr>
              <a:t xml:space="preserve">PICO · UNITY · </a:t>
            </a:r>
            <a:r>
              <a:rPr lang="zh-CN" sz="1200" b="1" spc="375">
                <a:solidFill>
                  <a:srgbClr val="F97316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1295400"/>
            <a:ext cx="6096000" cy="281940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5400" b="1">
                <a:solidFill>
                  <a:srgbClr val="1A1A1A"/>
                </a:solidFill>
                <a:latin typeface="思源黑体"/>
                <a:ea typeface="思源黑体"/>
              </a:rPr>
              <a:t>不写代码，</a:t>
            </a:r>
            <a:endParaRPr/>
          </a:p>
          <a:p>
            <a:pPr>
              <a:lnSpc>
                <a:spcPct val="113999"/>
              </a:lnSpc>
            </a:pPr>
            <a:r>
              <a:rPr lang="zh-CN" sz="5400" b="1">
                <a:solidFill>
                  <a:srgbClr val="1A1A1A"/>
                </a:solidFill>
                <a:latin typeface="思源黑体"/>
                <a:ea typeface="思源黑体"/>
              </a:rPr>
              <a:t>也能做出</a:t>
            </a:r>
            <a:endParaRPr/>
          </a:p>
          <a:p>
            <a:pPr>
              <a:lnSpc>
                <a:spcPct val="113999"/>
              </a:lnSpc>
            </a:pPr>
            <a:r>
              <a:rPr lang="en-US" sz="5400" b="1">
                <a:solidFill>
                  <a:srgbClr val="F97316"/>
                </a:solidFill>
                <a:latin typeface="思源黑体"/>
                <a:ea typeface="思源黑体"/>
              </a:rPr>
              <a:t xml:space="preserve">VR </a:t>
            </a:r>
            <a:r>
              <a:rPr lang="zh-CN" sz="5400" b="1">
                <a:solidFill>
                  <a:srgbClr val="F97316"/>
                </a:solidFill>
                <a:latin typeface="思源黑体"/>
                <a:ea typeface="思源黑体"/>
              </a:rPr>
              <a:t>游戏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4343400"/>
            <a:ext cx="6096000" cy="7810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650">
                <a:solidFill>
                  <a:srgbClr val="6B6560"/>
                </a:solidFill>
                <a:latin typeface="思源黑体"/>
                <a:ea typeface="思源黑体"/>
              </a:rPr>
              <a:t>你负责判断想要什么，</a:t>
            </a:r>
            <a:endParaRPr/>
          </a:p>
          <a:p>
            <a:pPr>
              <a:lnSpc>
                <a:spcPct val="155000"/>
              </a:lnSpc>
            </a:pPr>
            <a:r>
              <a:rPr lang="en-US" sz="1650">
                <a:solidFill>
                  <a:srgbClr val="6B6560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650">
                <a:solidFill>
                  <a:srgbClr val="6B6560"/>
                </a:solidFill>
                <a:latin typeface="思源黑体"/>
                <a:ea typeface="思源黑体"/>
              </a:rPr>
              <a:t>负责所有动手的部分。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762000" y="5248275"/>
            <a:ext cx="6096000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90500" dist="57150" dir="5400000">
              <a:srgbClr val="1A1A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76325" y="5553075"/>
            <a:ext cx="1304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不用学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 xml:space="preserve"> Unity 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界面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009900" y="5524500"/>
            <a:ext cx="9525" cy="247650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657600" y="55530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不用写代码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095875" y="5524500"/>
            <a:ext cx="9525" cy="247650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34050" y="55530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不用买头显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762000" y="6248400"/>
            <a:ext cx="342900" cy="28575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257300" y="6172200"/>
            <a:ext cx="3790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178"/>
                </a:solidFill>
                <a:latin typeface="思源黑体"/>
                <a:ea typeface="思源黑体"/>
              </a:rPr>
              <a:t>适用：完全没碰过</a:t>
            </a:r>
            <a:r>
              <a:rPr lang="en-US" sz="1125">
                <a:solidFill>
                  <a:srgbClr val="8A8178"/>
                </a:solidFill>
                <a:latin typeface="思源黑体"/>
                <a:ea typeface="思源黑体"/>
              </a:rPr>
              <a:t xml:space="preserve"> Unity</a:t>
            </a:r>
            <a:r>
              <a:rPr lang="zh-CN" sz="1125">
                <a:solidFill>
                  <a:srgbClr val="8A8178"/>
                </a:solidFill>
                <a:latin typeface="思源黑体"/>
                <a:ea typeface="思源黑体"/>
              </a:rPr>
              <a:t>、不写代码的同学　·　预计</a:t>
            </a:r>
            <a:r>
              <a:rPr lang="en-US" sz="1125">
                <a:solidFill>
                  <a:srgbClr val="8A8178"/>
                </a:solidFill>
                <a:latin typeface="思源黑体"/>
                <a:ea typeface="思源黑体"/>
              </a:rPr>
              <a:t xml:space="preserve"> 90 </a:t>
            </a:r>
            <a:r>
              <a:rPr lang="zh-CN" sz="1125">
                <a:solidFill>
                  <a:srgbClr val="8A8178"/>
                </a:solidFill>
                <a:latin typeface="思源黑体"/>
                <a:ea typeface="思源黑体"/>
              </a:rPr>
              <a:t>分钟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8572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你的角色：你判断，</a:t>
            </a:r>
            <a:r>
              <a:rPr lang="en-US" sz="2550" b="1">
                <a:solidFill>
                  <a:srgbClr val="1A1A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动手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8572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这套做法的分工，只有一句话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1257300"/>
            <a:ext cx="7086600" cy="40767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76300" y="1524000"/>
            <a:ext cx="655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一条循环，四步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876300" y="19050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038225" y="20478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你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485900" y="1866900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第</a:t>
            </a:r>
            <a:r>
              <a:rPr lang="en-US" sz="975" b="1">
                <a:solidFill>
                  <a:srgbClr val="8A8178"/>
                </a:solidFill>
                <a:latin typeface="思源黑体"/>
                <a:ea typeface="思源黑体"/>
              </a:rPr>
              <a:t xml:space="preserve"> 1 </a:t>
            </a: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485900" y="201930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说清你要什么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485900" y="223837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目标、感觉、参考，不用术语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686550" y="2000250"/>
            <a:ext cx="742950" cy="28575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934200" y="2066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351A"/>
                </a:solidFill>
                <a:latin typeface="思源黑体"/>
                <a:ea typeface="思源黑体"/>
              </a:rPr>
              <a:t>需求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76300" y="254317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028700" y="2686050"/>
            <a:ext cx="17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AI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485900" y="250507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第</a:t>
            </a:r>
            <a:r>
              <a:rPr lang="en-US" sz="975" b="1">
                <a:solidFill>
                  <a:srgbClr val="8A8178"/>
                </a:solidFill>
                <a:latin typeface="思源黑体"/>
                <a:ea typeface="思源黑体"/>
              </a:rPr>
              <a:t xml:space="preserve"> 2 </a:t>
            </a: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485900" y="26574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动手做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485900" y="287655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装环境、拉代码、打包、装模拟器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686550" y="2638425"/>
            <a:ext cx="742950" cy="285750"/>
          </a:xfrm>
          <a:prstGeom prst="roundRect">
            <a:avLst>
              <a:gd name="adj" fmla="val 50000"/>
            </a:avLst>
          </a:prstGeom>
          <a:solidFill>
            <a:srgbClr val="EC489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934200" y="27051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93556"/>
                </a:solidFill>
                <a:latin typeface="思源黑体"/>
                <a:ea typeface="思源黑体"/>
              </a:rPr>
              <a:t>执行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876300" y="31813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028700" y="3324225"/>
            <a:ext cx="171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AI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485900" y="3143250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第</a:t>
            </a:r>
            <a:r>
              <a:rPr lang="en-US" sz="975" b="1">
                <a:solidFill>
                  <a:srgbClr val="8A8178"/>
                </a:solidFill>
                <a:latin typeface="思源黑体"/>
                <a:ea typeface="思源黑体"/>
              </a:rPr>
              <a:t xml:space="preserve"> 3 </a:t>
            </a: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485900" y="32956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交结果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485900" y="3514725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截图给你看，不说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应该好了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686550" y="3276600"/>
            <a:ext cx="742950" cy="285750"/>
          </a:xfrm>
          <a:prstGeom prst="roundRect">
            <a:avLst>
              <a:gd name="adj" fmla="val 50000"/>
            </a:avLst>
          </a:prstGeom>
          <a:solidFill>
            <a:srgbClr val="EC489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934200" y="3343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993556"/>
                </a:solidFill>
                <a:latin typeface="思源黑体"/>
                <a:ea typeface="思源黑体"/>
              </a:rPr>
              <a:t>截图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76300" y="3819525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038225" y="39624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你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485900" y="3781425"/>
            <a:ext cx="5067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第</a:t>
            </a:r>
            <a:r>
              <a:rPr lang="en-US" sz="975" b="1">
                <a:solidFill>
                  <a:srgbClr val="8A8178"/>
                </a:solidFill>
                <a:latin typeface="思源黑体"/>
                <a:ea typeface="思源黑体"/>
              </a:rPr>
              <a:t xml:space="preserve"> 4 </a:t>
            </a:r>
            <a:r>
              <a:rPr lang="zh-CN" sz="975" b="1">
                <a:solidFill>
                  <a:srgbClr val="8A8178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485900" y="393382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判断哪里不对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485900" y="4152900"/>
            <a:ext cx="506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像不像、差在哪，再回到第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1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686550" y="3914775"/>
            <a:ext cx="742950" cy="28575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934200" y="39814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351A"/>
                </a:solidFill>
                <a:latin typeface="思源黑体"/>
                <a:ea typeface="思源黑体"/>
              </a:rPr>
              <a:t>判断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76300" y="4895850"/>
            <a:ext cx="655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178"/>
                </a:solidFill>
                <a:latin typeface="思源黑体"/>
                <a:ea typeface="思源黑体"/>
              </a:rPr>
              <a:t>这个循环会重复很多次，直到画面你满意为止。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962900" y="1257300"/>
            <a:ext cx="3619500" cy="4076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191500" y="1485900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一句话记住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191500" y="1838325"/>
            <a:ext cx="3162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思源黑体"/>
                <a:ea typeface="思源黑体"/>
              </a:rPr>
              <a:t>你不写代码，也不操作</a:t>
            </a:r>
            <a:r>
              <a:rPr lang="en-US" sz="1275">
                <a:solidFill>
                  <a:srgbClr val="1A1A1A"/>
                </a:solidFill>
                <a:latin typeface="思源黑体"/>
                <a:ea typeface="思源黑体"/>
              </a:rPr>
              <a:t xml:space="preserve"> Unity</a:t>
            </a:r>
            <a:r>
              <a:rPr lang="zh-CN" sz="1275">
                <a:solidFill>
                  <a:srgbClr val="1A1A1A"/>
                </a:solidFill>
                <a:latin typeface="思源黑体"/>
                <a:ea typeface="思源黑体"/>
              </a:rPr>
              <a:t>。你只做两件事：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191500" y="2562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97316"/>
                </a:solidFill>
                <a:latin typeface="思源黑体"/>
                <a:ea typeface="思源黑体"/>
              </a:rPr>
              <a:t>①</a:t>
            </a:r>
            <a:r>
              <a:rPr lang="en-US" sz="1350">
                <a:solidFill>
                  <a:srgbClr val="1A1A1A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350">
                <a:solidFill>
                  <a:srgbClr val="1A1A1A"/>
                </a:solidFill>
                <a:latin typeface="思源黑体"/>
                <a:ea typeface="思源黑体"/>
              </a:rPr>
              <a:t>说清楚你要什么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91500" y="28289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97316"/>
                </a:solidFill>
                <a:latin typeface="思源黑体"/>
                <a:ea typeface="思源黑体"/>
              </a:rPr>
              <a:t>②</a:t>
            </a:r>
            <a:r>
              <a:rPr lang="en-US" sz="1350">
                <a:solidFill>
                  <a:srgbClr val="1A1A1A"/>
                </a:solidFill>
                <a:latin typeface="思源黑体"/>
                <a:ea typeface="思源黑体"/>
              </a:rPr>
              <a:t xml:space="preserve"> </a:t>
            </a:r>
            <a:r>
              <a:rPr lang="zh-CN" sz="1350">
                <a:solidFill>
                  <a:srgbClr val="1A1A1A"/>
                </a:solidFill>
                <a:latin typeface="思源黑体"/>
                <a:ea typeface="思源黑体"/>
              </a:rPr>
              <a:t>看截图，说哪里不对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8191500" y="3152775"/>
            <a:ext cx="3162300" cy="9525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191500" y="327660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8A8178"/>
                </a:solidFill>
                <a:latin typeface="思源黑体"/>
                <a:ea typeface="思源黑体"/>
              </a:rPr>
              <a:t>你不需要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191500" y="349567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·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懂代码，或看懂报错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191500" y="372427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·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在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 Unity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界面里操作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91500" y="3952875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·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自己研究工具怎么装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191500" y="4648200"/>
            <a:ext cx="3162300" cy="457200"/>
          </a:xfrm>
          <a:prstGeom prst="roundRect">
            <a:avLst>
              <a:gd name="adj" fmla="val 25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24850" y="478155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分工错位，就是你在替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干活。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5524500"/>
            <a:ext cx="10972800" cy="4191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257675" y="5638800"/>
            <a:ext cx="3686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你越像一个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提需求的人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，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越像一个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能交付的人</a:t>
            </a:r>
            <a:r>
              <a:rPr lang="en-US" sz="120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整条链路，一眼看懂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从一台干净电脑，到看见画面，只有这一条路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1257300"/>
            <a:ext cx="109728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228600" dist="57150" dir="5400000">
              <a:srgbClr val="1A1A1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295400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485900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85875" y="22288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一台电脑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181100" y="2457450"/>
            <a:ext cx="8667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先看硬件够不够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2457450" y="1657350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E8B98F"/>
                </a:solidFill>
                <a:latin typeface="思源黑体"/>
                <a:ea typeface="思源黑体"/>
              </a:rPr>
              <a:t>›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3086100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276600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971800" y="2228850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开发工具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2895600" y="2457450"/>
            <a:ext cx="1019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替你动手的那个</a:t>
            </a:r>
            <a:r>
              <a:rPr lang="en-US" sz="975">
                <a:solidFill>
                  <a:srgbClr val="8A8178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257675" y="1657350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E8B98F"/>
                </a:solidFill>
                <a:latin typeface="思源黑体"/>
                <a:ea typeface="思源黑体"/>
              </a:rPr>
              <a:t>›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886325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5076825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876800" y="22288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开发环境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705350" y="2457450"/>
            <a:ext cx="990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六件事装好、连对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48375" y="1657350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E8B98F"/>
                </a:solidFill>
                <a:latin typeface="思源黑体"/>
                <a:ea typeface="思源黑体"/>
              </a:rPr>
              <a:t>›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677025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867525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829425" y="22288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打包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496050" y="2457450"/>
            <a:ext cx="990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工程导出成安装包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839075" y="1657350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E8B98F"/>
                </a:solidFill>
                <a:latin typeface="思源黑体"/>
                <a:ea typeface="思源黑体"/>
              </a:rPr>
              <a:t>›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8477250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667750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553450" y="22288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模拟器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62950" y="2457450"/>
            <a:ext cx="8667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电脑里的假头显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639300" y="1657350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E8B98F"/>
                </a:solidFill>
                <a:latin typeface="思源黑体"/>
                <a:ea typeface="思源黑体"/>
              </a:rPr>
              <a:t>›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10267950" y="1504950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0458450" y="16859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1A1A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0258425" y="22288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看到画面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153650" y="2457450"/>
            <a:ext cx="8667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这一圈就算跑通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857250" y="2838450"/>
            <a:ext cx="5172075" cy="495300"/>
          </a:xfrm>
          <a:prstGeom prst="roundRect">
            <a:avLst>
              <a:gd name="adj" fmla="val 23077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2314575" y="3000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准备阶段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2981325" y="30099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8351A"/>
                </a:solidFill>
                <a:latin typeface="思源黑体"/>
                <a:ea typeface="思源黑体"/>
              </a:rPr>
              <a:t>一次性搭好，之后不用再管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162675" y="2838450"/>
            <a:ext cx="5172075" cy="495300"/>
          </a:xfrm>
          <a:prstGeom prst="roundRect">
            <a:avLst>
              <a:gd name="adj" fmla="val 23077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620000" y="3000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3556"/>
                </a:solidFill>
                <a:latin typeface="思源黑体"/>
                <a:ea typeface="思源黑体"/>
              </a:rPr>
              <a:t>交付阶段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286750" y="30099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93556"/>
                </a:solidFill>
                <a:latin typeface="思源黑体"/>
                <a:ea typeface="思源黑体"/>
              </a:rPr>
              <a:t>每次改动都走一遍</a:t>
            </a:r>
            <a:r>
              <a:rPr lang="en-US" sz="1050">
                <a:solidFill>
                  <a:srgbClr val="993556"/>
                </a:solidFill>
                <a:latin typeface="思源黑体"/>
                <a:ea typeface="思源黑体"/>
              </a:rPr>
              <a:t xml:space="preserve"> 4→5→6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4305300"/>
            <a:ext cx="3505200" cy="14859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00100" y="44958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A8178"/>
                </a:solidFill>
                <a:latin typeface="思源黑体"/>
                <a:ea typeface="思源黑体"/>
              </a:rPr>
              <a:t>起点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47053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先确认电脑够不够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00100" y="49911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不达标就别装，换机器比装到一半才发现更省时间。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4343400" y="4305300"/>
            <a:ext cx="3505200" cy="14859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533900" y="44958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A8178"/>
                </a:solidFill>
                <a:latin typeface="思源黑体"/>
                <a:ea typeface="思源黑体"/>
              </a:rPr>
              <a:t>中段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533900" y="47053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把环境装好、连对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533900" y="49911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这一步最花时间，也是新人最容易卡住的地方。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8077200" y="4305300"/>
            <a:ext cx="3505200" cy="14859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267700" y="4495800"/>
            <a:ext cx="3124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8A8178"/>
                </a:solidFill>
                <a:latin typeface="思源黑体"/>
                <a:ea typeface="思源黑体"/>
              </a:rPr>
              <a:t>终点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267700" y="470535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看到画面就算赢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267700" y="499110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不用完美，能出一张画面截图，就说明整条路通了。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它不是聊天</a:t>
            </a:r>
            <a:r>
              <a:rPr lang="en-US" sz="2550" b="1">
                <a:solidFill>
                  <a:srgbClr val="1A1A1A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，是能动手的</a:t>
            </a:r>
            <a:r>
              <a:rPr lang="en-US" sz="2550" b="1">
                <a:solidFill>
                  <a:srgbClr val="1A1A1A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同样叫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，干的活完全不是一回事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1257300"/>
            <a:ext cx="666750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695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聊天</a:t>
            </a:r>
            <a:r>
              <a:rPr lang="en-US" sz="1650" b="1">
                <a:solidFill>
                  <a:srgbClr val="1A1A1A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1647825" y="1495425"/>
            <a:ext cx="600075" cy="2476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762125" y="15430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只会说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38200" y="1857375"/>
            <a:ext cx="62103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你说一句，它回一段。它看不见你的屏幕，也碰不到你的电脑——最后动手的还是你自己。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8200" y="26003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178"/>
                </a:solidFill>
                <a:latin typeface="思源黑体"/>
                <a:ea typeface="思源黑体"/>
              </a:rPr>
              <a:t>适合：问概念、改文案、想点子。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32194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97316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33425" y="3295650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97316"/>
                </a:solidFill>
                <a:latin typeface="思源黑体"/>
                <a:ea typeface="思源黑体"/>
              </a:rPr>
              <a:t>↓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62050" y="333375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多了最关键的一件事：能碰你的电脑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3810000"/>
            <a:ext cx="6667500" cy="2076450"/>
          </a:xfrm>
          <a:prstGeom prst="roundRect">
            <a:avLst>
              <a:gd name="adj" fmla="val 8257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38200" y="4038600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开发</a:t>
            </a: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（</a:t>
            </a: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Agent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2657475" y="4048125"/>
            <a:ext cx="600075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771775" y="40957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思源黑体"/>
                <a:ea typeface="思源黑体"/>
              </a:rPr>
              <a:t>会动手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8200" y="4410075"/>
            <a:ext cx="62103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FFFFFF"/>
                </a:solidFill>
                <a:latin typeface="思源黑体"/>
                <a:ea typeface="思源黑体"/>
              </a:rPr>
              <a:t>你提要求，它自己打开软件、敲指令、下载安装、操作画面。做完还会截图给你看，让你验收。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8200" y="5153025"/>
            <a:ext cx="621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适合：装环境、拉代码、打包、跑模拟器。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620000" y="1257300"/>
            <a:ext cx="39624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差别不在</a:t>
            </a:r>
            <a:r>
              <a:rPr lang="en-US" sz="19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聪明</a:t>
            </a:r>
            <a:r>
              <a:rPr lang="en-US" sz="19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在</a:t>
            </a:r>
            <a:r>
              <a:rPr lang="en-US" sz="19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能不能碰你的电脑</a:t>
            </a:r>
            <a:r>
              <a:rPr lang="en-US" sz="19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7620000" y="2676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8A8178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7810500" y="259080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聊天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给你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建议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，剩下的你自己干。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7620000" y="3114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810500" y="302895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开发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给你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结果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，你只负责判断。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7620000" y="3552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810500" y="3467100"/>
            <a:ext cx="37719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所以别拿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更聪明的聊天框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来干这活。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7620000" y="4276725"/>
            <a:ext cx="39624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791450" y="4448175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你要找的不是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最聪明的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 xml:space="preserve"> AI"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，是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能替你动手的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 xml:space="preserve"> AI"</a:t>
            </a: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620000" y="5724525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这类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能动手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的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，现在通常叫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 Agent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常见的就这么几个，随便挑一个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都跑得通；差别只在界面好不好看、要不要敲命令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14097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WorkBuddy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3248025" y="1790700"/>
            <a:ext cx="695325" cy="209550"/>
          </a:xfrm>
          <a:prstGeom prst="roundRect">
            <a:avLst>
              <a:gd name="adj" fmla="val 50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333750" y="182880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A8351A"/>
                </a:solidFill>
                <a:latin typeface="思源黑体"/>
                <a:ea typeface="思源黑体"/>
              </a:rPr>
              <a:t>本手册举例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00100" y="210502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通用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助手，能直接操作电脑、跑命令、看截图。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333875" y="14097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524375" y="1924050"/>
            <a:ext cx="52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TRAE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7077075" y="1933575"/>
            <a:ext cx="590550" cy="2095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7162800" y="1971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6560"/>
                </a:solidFill>
                <a:latin typeface="思源黑体"/>
                <a:ea typeface="思源黑体"/>
              </a:rPr>
              <a:t>中文界面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524375" y="22479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中文、免费，点点鼠标就能用，新手最不费劲。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8058150" y="14097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248650" y="1924050"/>
            <a:ext cx="628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Cursor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10801350" y="1933575"/>
            <a:ext cx="590550" cy="2095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0887075" y="19716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6560"/>
                </a:solidFill>
                <a:latin typeface="思源黑体"/>
                <a:ea typeface="思源黑体"/>
              </a:rPr>
              <a:t>国际主流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248650" y="22479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编辑器里长出来的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，用得最多，界面是英文。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31623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00100" y="3676650"/>
            <a:ext cx="1171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Claude Code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3457575" y="3686175"/>
            <a:ext cx="485775" cy="2095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543300" y="37242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6560"/>
                </a:solidFill>
                <a:latin typeface="思源黑体"/>
                <a:ea typeface="思源黑体"/>
              </a:rPr>
              <a:t>命令行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终端里的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，公认最能干，得有人带一次。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4333875" y="31623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524375" y="3676650"/>
            <a:ext cx="590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Codex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6915150" y="3686175"/>
            <a:ext cx="752475" cy="2095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000875" y="37242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6560"/>
                </a:solidFill>
                <a:latin typeface="思源黑体"/>
                <a:ea typeface="思源黑体"/>
              </a:rPr>
              <a:t>命令行</a:t>
            </a:r>
            <a:r>
              <a:rPr lang="en-US" sz="825">
                <a:solidFill>
                  <a:srgbClr val="6B6560"/>
                </a:solidFill>
                <a:latin typeface="思源黑体"/>
                <a:ea typeface="思源黑体"/>
              </a:rPr>
              <a:t xml:space="preserve"> / IDE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4524375" y="40005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OpenAI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出的编程助手，命令行和编辑器里都有。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8058150" y="3162300"/>
            <a:ext cx="3524250" cy="161925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248650" y="367665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>OpenCode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11010900" y="3686175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1096625" y="3724275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6560"/>
                </a:solidFill>
                <a:latin typeface="思源黑体"/>
                <a:ea typeface="思源黑体"/>
              </a:rPr>
              <a:t>开源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248650" y="4000500"/>
            <a:ext cx="3143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开源免费，配置得自己折腾，适合爱钻研的。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4991100"/>
            <a:ext cx="10972800" cy="83820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76300" y="5286375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随便挑一个，都能跑通。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800975" y="5324475"/>
            <a:ext cx="3514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9C0B4"/>
                </a:solidFill>
                <a:latin typeface="思源黑体"/>
                <a:ea typeface="思源黑体"/>
              </a:rPr>
              <a:t>别在选工具上纠结</a:t>
            </a:r>
            <a:r>
              <a:rPr lang="en-US" sz="1125">
                <a:solidFill>
                  <a:srgbClr val="C9C0B4"/>
                </a:solidFill>
                <a:latin typeface="思源黑体"/>
                <a:ea typeface="思源黑体"/>
              </a:rPr>
              <a:t xml:space="preserve"> —— </a:t>
            </a:r>
            <a:r>
              <a:rPr lang="zh-CN" sz="1125">
                <a:solidFill>
                  <a:srgbClr val="C9C0B4"/>
                </a:solidFill>
                <a:latin typeface="思源黑体"/>
                <a:ea typeface="思源黑体"/>
              </a:rPr>
              <a:t>团队统一一个，剩下的交给它。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怎么跟它说话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不用学提示词，记住四步就够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1257300"/>
            <a:ext cx="3276600" cy="4629150"/>
          </a:xfrm>
          <a:prstGeom prst="roundRect">
            <a:avLst>
              <a:gd name="adj" fmla="val 5814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57250" y="15049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FFFFFF">
                    <a:alpha val="80000"/>
                  </a:srgbClr>
                </a:solidFill>
                <a:latin typeface="思源黑体"/>
                <a:ea typeface="思源黑体"/>
              </a:rPr>
              <a:t>HOW TO TALK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57250" y="1752600"/>
            <a:ext cx="2781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FFFFFF"/>
                </a:solidFill>
                <a:latin typeface="思源黑体"/>
                <a:ea typeface="思源黑体"/>
              </a:rPr>
              <a:t>四步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就够了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278130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57250" y="47815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思源黑体"/>
                <a:ea typeface="思源黑体"/>
              </a:rPr>
              <a:t xml:space="preserve">① </a:t>
            </a: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打开它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57250" y="50101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思源黑体"/>
                <a:ea typeface="思源黑体"/>
              </a:rPr>
              <a:t xml:space="preserve">② </a:t>
            </a: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提要求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思源黑体"/>
                <a:ea typeface="思源黑体"/>
              </a:rPr>
              <a:t xml:space="preserve">③ </a:t>
            </a: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别抢鼠标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57250" y="546735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思源黑体"/>
                <a:ea typeface="思源黑体"/>
              </a:rPr>
              <a:t xml:space="preserve">④ </a:t>
            </a:r>
            <a:r>
              <a:rPr lang="zh-CN" sz="1125">
                <a:solidFill>
                  <a:srgbClr val="FFFFFF"/>
                </a:solidFill>
                <a:latin typeface="思源黑体"/>
                <a:ea typeface="思源黑体"/>
              </a:rPr>
              <a:t>要截图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4267200" y="12573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4467225" y="140017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953000" y="1257300"/>
            <a:ext cx="6629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思源黑体"/>
                <a:ea typeface="思源黑体"/>
              </a:rPr>
              <a:t>打开它，新建一个会话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953000" y="154305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第一次用，让负责人帮你装好、登录好；之后每次都是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开一个新对话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4267200" y="2219325"/>
            <a:ext cx="7315200" cy="9525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4267200" y="26098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467225" y="27527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953000" y="2609850"/>
            <a:ext cx="6629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思源黑体"/>
                <a:ea typeface="思源黑体"/>
              </a:rPr>
              <a:t>用大白话提要求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953000" y="28956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比如：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帮我看看这台电脑能不能装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 PICO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的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 VR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模拟器。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不用术语，越具体越好。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4267200" y="3571875"/>
            <a:ext cx="7315200" cy="9525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267200" y="395287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95250" dist="1905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467225" y="409575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953000" y="3952875"/>
            <a:ext cx="6629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1A1A"/>
                </a:solidFill>
                <a:latin typeface="思源黑体"/>
                <a:ea typeface="思源黑体"/>
              </a:rPr>
              <a:t>它干活时，别抢鼠标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953000" y="42386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它弹窗问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是否允许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继续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，你点允许就行；别自己去点别的窗口，会打断它。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4267200" y="4914900"/>
            <a:ext cx="7315200" cy="9525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4267200" y="5305425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467225" y="5448300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4953000" y="5305425"/>
            <a:ext cx="6629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A8351A"/>
                </a:solidFill>
                <a:latin typeface="思源黑体"/>
                <a:ea typeface="思源黑体"/>
              </a:rPr>
              <a:t>最后一定要截图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953000" y="5591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它说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好了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不算，让它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截一张模拟器画面给我看</a:t>
            </a:r>
            <a:r>
              <a:rPr lang="en-US" sz="120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B6560"/>
                </a:solidFill>
                <a:latin typeface="思源黑体"/>
                <a:ea typeface="思源黑体"/>
              </a:rPr>
              <a:t>。没截图就是没做完。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和</a:t>
            </a:r>
            <a:r>
              <a:rPr lang="en-US" sz="2550" b="1">
                <a:solidFill>
                  <a:srgbClr val="1A1A1A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合作的</a:t>
            </a:r>
            <a:r>
              <a:rPr lang="en-US" sz="2550" b="1">
                <a:solidFill>
                  <a:srgbClr val="1A1A1A"/>
                </a:solidFill>
                <a:latin typeface="思源黑体"/>
                <a:ea typeface="思源黑体"/>
              </a:rPr>
              <a:t xml:space="preserve"> 5 </a:t>
            </a: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条准则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不用记方法论，记住这五句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8A8178"/>
                </a:solidFill>
                <a:latin typeface="思源黑体"/>
                <a:ea typeface="思源黑体"/>
              </a:rPr>
              <a:t>MINDSET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2819400" cy="2019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200" b="1">
                <a:solidFill>
                  <a:srgbClr val="F97316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" y="4086225"/>
            <a:ext cx="2819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条准则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5010150"/>
            <a:ext cx="2819400" cy="876300"/>
          </a:xfrm>
          <a:prstGeom prst="roundRect">
            <a:avLst>
              <a:gd name="adj" fmla="val 15217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62000" y="5162550"/>
            <a:ext cx="2514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A8351A"/>
                </a:solidFill>
                <a:latin typeface="思源黑体"/>
                <a:ea typeface="思源黑体"/>
              </a:rPr>
              <a:t>真正最容易忘的是第</a:t>
            </a:r>
            <a:r>
              <a:rPr lang="en-US" sz="1125">
                <a:solidFill>
                  <a:srgbClr val="A8351A"/>
                </a:solidFill>
                <a:latin typeface="思源黑体"/>
                <a:ea typeface="思源黑体"/>
              </a:rPr>
              <a:t xml:space="preserve"> 3 </a:t>
            </a:r>
            <a:r>
              <a:rPr lang="zh-CN" sz="1125">
                <a:solidFill>
                  <a:srgbClr val="A8351A"/>
                </a:solidFill>
                <a:latin typeface="思源黑体"/>
                <a:ea typeface="思源黑体"/>
              </a:rPr>
              <a:t>条：没截图，就等于没做完。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3810000" y="1257300"/>
            <a:ext cx="77724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3962400" y="1514475"/>
            <a:ext cx="40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97316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4514850" y="146685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你判断，</a:t>
            </a:r>
            <a:r>
              <a:rPr lang="en-US" sz="1425" b="1">
                <a:solidFill>
                  <a:srgbClr val="1A1A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动手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4514850" y="17049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别替它干活，也别让它替你判断。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3810000" y="2209800"/>
            <a:ext cx="77724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3962400" y="2466975"/>
            <a:ext cx="40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97316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514850" y="241935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说人话，不用术语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514850" y="26574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遇到不懂的词，直接丢给它：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这个是什么意思？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3810000" y="3162300"/>
            <a:ext cx="7772400" cy="819150"/>
          </a:xfrm>
          <a:prstGeom prst="roundRect">
            <a:avLst>
              <a:gd name="adj" fmla="val 13953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962400" y="3419475"/>
            <a:ext cx="40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514850" y="337185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没截图</a:t>
            </a: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没做完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514850" y="36099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它说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好了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""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应该可以了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都不算，必须看到画面。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810000" y="4114800"/>
            <a:ext cx="77724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962400" y="4371975"/>
            <a:ext cx="40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97316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4514850" y="432435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报错是线索，不是电脑坏了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514850" y="45624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看到红字别慌，原样复制给它，那是它的定位信息。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3810000" y="5067300"/>
            <a:ext cx="77724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3962400" y="5324475"/>
            <a:ext cx="40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97316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4514850" y="5276850"/>
            <a:ext cx="691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1A1A"/>
                </a:solidFill>
                <a:latin typeface="思源黑体"/>
                <a:ea typeface="思源黑体"/>
              </a:rPr>
              <a:t>卡住、等待、重启都正常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514850" y="5514975"/>
            <a:ext cx="691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装环境本来就慢，这不是你操作错了。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黑话①：开发环境与命令行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7715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两个最常听到的词，其实一句话就能懂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1257300"/>
            <a:ext cx="6324600" cy="4629150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1A1A1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8A8178"/>
                </a:solidFill>
                <a:latin typeface="思源黑体"/>
                <a:ea typeface="思源黑体"/>
              </a:rPr>
              <a:t>你平常的操作方式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838200" y="1714500"/>
            <a:ext cx="5867400" cy="1314450"/>
          </a:xfrm>
          <a:prstGeom prst="roundRect">
            <a:avLst>
              <a:gd name="adj" fmla="val 8696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990600" y="1866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CFC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1143000" y="1866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CFC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1295400" y="1866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CFC2"/>
          </a:solidFill>
          <a:ln/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90600" y="20764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看图标、点按钮、用鼠标拖来拖去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990600" y="24098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266825" y="2476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打开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1885950" y="24098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2162175" y="2476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保存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2781300" y="2409825"/>
            <a:ext cx="8001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057525" y="2476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关闭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838200" y="3162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97316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933450" y="3219450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97316"/>
                </a:solidFill>
                <a:latin typeface="思源黑体"/>
                <a:ea typeface="思源黑体"/>
              </a:rPr>
              <a:t>↓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276350" y="32480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351A"/>
                </a:solidFill>
                <a:latin typeface="思源黑体"/>
                <a:ea typeface="思源黑体"/>
              </a:rPr>
              <a:t>早期没有界面，只能</a:t>
            </a:r>
            <a:r>
              <a:rPr lang="en-US" sz="105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050" b="1">
                <a:solidFill>
                  <a:srgbClr val="A8351A"/>
                </a:solidFill>
                <a:latin typeface="思源黑体"/>
                <a:ea typeface="思源黑体"/>
              </a:rPr>
              <a:t>打一行字，回车</a:t>
            </a:r>
            <a:r>
              <a:rPr lang="en-US" sz="1050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838200" y="3619500"/>
            <a:ext cx="5867400" cy="167640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990600" y="3771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1143000" y="3771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295400" y="3771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90600" y="4000500"/>
            <a:ext cx="556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BBF24"/>
                </a:solidFill>
                <a:latin typeface="思源黑体"/>
                <a:ea typeface="思源黑体"/>
              </a:rPr>
              <a:t>$ pico-cli doctor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90600" y="426720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C0B4"/>
                </a:solidFill>
                <a:latin typeface="思源黑体"/>
                <a:ea typeface="思源黑体"/>
              </a:rPr>
              <a:t>Runtime: ok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90600" y="447675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C0B4"/>
                </a:solidFill>
                <a:latin typeface="思源黑体"/>
                <a:ea typeface="思源黑体"/>
              </a:rPr>
              <a:t>Emulator prerequisites: ready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990600" y="4686300"/>
            <a:ext cx="5562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9C0B4"/>
                </a:solidFill>
                <a:latin typeface="思源黑体"/>
                <a:ea typeface="思源黑体"/>
              </a:rPr>
              <a:t>PICO environment: set up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277100" y="1257300"/>
            <a:ext cx="43053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两个词，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一句话说完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277100" y="225742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思源黑体"/>
                <a:ea typeface="思源黑体"/>
              </a:rPr>
              <a:t>开发环境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277100" y="2505075"/>
            <a:ext cx="4305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就是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能开播的那一整套状态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：工具都装好、互相连对、能打包。这是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一次性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搭好的。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277100" y="3257550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思源黑体"/>
                <a:ea typeface="思源黑体"/>
              </a:rPr>
              <a:t>命令行（</a:t>
            </a:r>
            <a:r>
              <a:rPr lang="en-US" sz="1350" b="1">
                <a:solidFill>
                  <a:srgbClr val="F97316"/>
                </a:solidFill>
                <a:latin typeface="思源黑体"/>
                <a:ea typeface="思源黑体"/>
              </a:rPr>
              <a:t>CLI</a:t>
            </a:r>
            <a:r>
              <a:rPr lang="zh-CN" sz="1350" b="1">
                <a:solidFill>
                  <a:srgbClr val="F97316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277100" y="3505200"/>
            <a:ext cx="4305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没有按钮和图标，靠打一行字、回车，电脑就直接执行。看着吓人，其实规则很简单。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277100" y="4257675"/>
            <a:ext cx="430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97316"/>
                </a:solidFill>
                <a:latin typeface="思源黑体"/>
                <a:ea typeface="思源黑体"/>
              </a:rPr>
              <a:t>为什么现在用它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277100" y="4505325"/>
            <a:ext cx="4305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这种方式特别适合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：它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打字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比你快得多，也不怕记不住命令。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7277100" y="5257800"/>
            <a:ext cx="4305300" cy="628650"/>
          </a:xfrm>
          <a:prstGeom prst="roundRect">
            <a:avLst>
              <a:gd name="adj" fmla="val 21212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448550" y="5429250"/>
            <a:ext cx="3962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你基本不用自己敲——</a:t>
            </a:r>
            <a:r>
              <a:rPr lang="en-US" sz="1200" b="1">
                <a:solidFill>
                  <a:srgbClr val="FFFFFF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200" b="1">
                <a:solidFill>
                  <a:srgbClr val="FFFFFF"/>
                </a:solidFill>
                <a:latin typeface="思源黑体"/>
                <a:ea typeface="思源黑体"/>
              </a:rPr>
              <a:t>替你敲，你负责看结果。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1172825" y="65436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黑话②：代码从哪来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800100"/>
            <a:ext cx="10972800" cy="381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00100" y="9048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351A"/>
                </a:solidFill>
                <a:latin typeface="思源黑体"/>
                <a:ea typeface="思源黑体"/>
              </a:rPr>
              <a:t>下面三个词，是后面报错里最常出现的三个。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0515600" y="9144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A8351A"/>
                </a:solidFill>
                <a:latin typeface="思源黑体"/>
                <a:ea typeface="思源黑体"/>
              </a:rPr>
              <a:t>速查</a:t>
            </a:r>
            <a:r>
              <a:rPr lang="en-US" sz="975" b="1" spc="150">
                <a:solidFill>
                  <a:srgbClr val="A8351A"/>
                </a:solidFill>
                <a:latin typeface="思源黑体"/>
                <a:ea typeface="思源黑体"/>
              </a:rPr>
              <a:t xml:space="preserve"> · 3 </a:t>
            </a:r>
            <a:r>
              <a:rPr lang="zh-CN" sz="975" b="1" spc="150">
                <a:solidFill>
                  <a:srgbClr val="A8351A"/>
                </a:solidFill>
                <a:latin typeface="思源黑体"/>
                <a:ea typeface="思源黑体"/>
              </a:rPr>
              <a:t>个词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1333500"/>
            <a:ext cx="3352800" cy="40386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38200" y="1562100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8A8178"/>
                </a:solidFill>
                <a:latin typeface="思源黑体"/>
                <a:ea typeface="思源黑体"/>
              </a:rPr>
              <a:t>GITHUB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38200" y="18669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F97316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019175" y="1990725"/>
            <a:ext cx="200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97316"/>
                </a:solidFill>
                <a:latin typeface="思源黑体"/>
                <a:ea typeface="思源黑体"/>
              </a:rPr>
              <a:t>G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38200" y="25717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放代码的网上仓库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38200" y="2924175"/>
            <a:ext cx="28956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团队把游戏工程放在上面，我们要联网把它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拿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到本地电脑。国内有时连得慢、连不上，那是网络问题，不是你的问题。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838200" y="4752975"/>
            <a:ext cx="2895600" cy="390525"/>
          </a:xfrm>
          <a:prstGeom prst="roundRect">
            <a:avLst>
              <a:gd name="adj" fmla="val 2439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52500" y="48672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351A"/>
                </a:solidFill>
                <a:latin typeface="思源黑体"/>
                <a:ea typeface="思源黑体"/>
              </a:rPr>
              <a:t>记住：像网盘，但专放代码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4114800" y="1333500"/>
            <a:ext cx="3352800" cy="40386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4343400" y="1562100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150">
                <a:solidFill>
                  <a:srgbClr val="8A8178"/>
                </a:solidFill>
                <a:latin typeface="思源黑体"/>
                <a:ea typeface="思源黑体"/>
              </a:rPr>
              <a:t>包管理器</a:t>
            </a:r>
            <a:r>
              <a:rPr lang="en-US" sz="975" b="1" spc="150">
                <a:solidFill>
                  <a:srgbClr val="8A8178"/>
                </a:solidFill>
                <a:latin typeface="思源黑体"/>
                <a:ea typeface="思源黑体"/>
              </a:rPr>
              <a:t xml:space="preserve"> · BREW / WINGET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4343400" y="18669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C489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4552950" y="1990725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C4899"/>
                </a:solidFill>
                <a:latin typeface="思源黑体"/>
                <a:ea typeface="思源黑体"/>
              </a:rPr>
              <a:t>$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343400" y="25717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命令行版的应用商店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4343400" y="2924175"/>
            <a:ext cx="28956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你告诉它一个软件名，它自己上网帮你下载装好，不用你去找官网、点下一步。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Mac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上叫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brew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，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Windows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上叫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winget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4343400" y="4752975"/>
            <a:ext cx="2895600" cy="390525"/>
          </a:xfrm>
          <a:prstGeom prst="roundRect">
            <a:avLst>
              <a:gd name="adj" fmla="val 24390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457700" y="48672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993556"/>
                </a:solidFill>
                <a:latin typeface="思源黑体"/>
                <a:ea typeface="思源黑体"/>
              </a:rPr>
              <a:t>记住：像</a:t>
            </a:r>
            <a:r>
              <a:rPr lang="en-US" sz="1050" b="1">
                <a:solidFill>
                  <a:srgbClr val="993556"/>
                </a:solidFill>
                <a:latin typeface="思源黑体"/>
                <a:ea typeface="思源黑体"/>
              </a:rPr>
              <a:t xml:space="preserve"> App Store</a:t>
            </a:r>
            <a:r>
              <a:rPr lang="zh-CN" sz="1050" b="1">
                <a:solidFill>
                  <a:srgbClr val="993556"/>
                </a:solidFill>
                <a:latin typeface="思源黑体"/>
                <a:ea typeface="思源黑体"/>
              </a:rPr>
              <a:t>，只是用文字操作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7620000" y="1333500"/>
            <a:ext cx="3352800" cy="40386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848600" y="1562100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8A8178"/>
                </a:solidFill>
                <a:latin typeface="思源黑体"/>
                <a:ea typeface="思源黑体"/>
              </a:rPr>
              <a:t>NODE / NPM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7848600" y="186690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FBBF24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039100" y="1990725"/>
            <a:ext cx="180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A5A00"/>
                </a:solidFill>
                <a:latin typeface="思源黑体"/>
                <a:ea typeface="思源黑体"/>
              </a:rPr>
              <a:t>N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848600" y="25717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小工具运行的地基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848600" y="2924175"/>
            <a:ext cx="28956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npm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负责装开发用小工具，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Node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是这些小工具运行需要的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引擎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。我们装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Node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，就是为了能装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pico-cli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7848600" y="4752975"/>
            <a:ext cx="2895600" cy="390525"/>
          </a:xfrm>
          <a:prstGeom prst="roundRect">
            <a:avLst>
              <a:gd name="adj" fmla="val 24390"/>
            </a:avLst>
          </a:prstGeom>
          <a:solidFill>
            <a:srgbClr val="FBBF24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962900" y="486727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B4A00"/>
                </a:solidFill>
                <a:latin typeface="思源黑体"/>
                <a:ea typeface="思源黑体"/>
              </a:rPr>
              <a:t>记住：像运行环境，先有它才能跑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5581650"/>
            <a:ext cx="10972800" cy="381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381500" y="56864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这三个词听懂，后面报错里再出现它们，你就不会懵。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黑话③：从工程到画面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工程不能直接看，中间还隔着一道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打包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1257300"/>
            <a:ext cx="10972800" cy="2724150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1A1A1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81050" y="1428750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8A8178"/>
                </a:solidFill>
                <a:latin typeface="思源黑体"/>
                <a:ea typeface="思源黑体"/>
              </a:rPr>
              <a:t>一条流水线：原料</a:t>
            </a:r>
            <a:r>
              <a:rPr lang="en-US" sz="1050" b="1" spc="150">
                <a:solidFill>
                  <a:srgbClr val="8A817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050" b="1" spc="150">
                <a:solidFill>
                  <a:srgbClr val="8A8178"/>
                </a:solidFill>
                <a:latin typeface="思源黑体"/>
                <a:ea typeface="思源黑体"/>
              </a:rPr>
              <a:t>成品</a:t>
            </a:r>
            <a:r>
              <a:rPr lang="en-US" sz="1050" b="1" spc="150">
                <a:solidFill>
                  <a:srgbClr val="8A8178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050" b="1" spc="150">
                <a:solidFill>
                  <a:srgbClr val="8A8178"/>
                </a:solidFill>
                <a:latin typeface="思源黑体"/>
                <a:ea typeface="思源黑体"/>
              </a:rPr>
              <a:t>验收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781050" y="1724025"/>
            <a:ext cx="3009900" cy="1905000"/>
          </a:xfrm>
          <a:prstGeom prst="roundRect">
            <a:avLst>
              <a:gd name="adj" fmla="val 800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71550" y="1914525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6B6560"/>
                </a:solidFill>
                <a:latin typeface="思源黑体"/>
                <a:ea typeface="思源黑体"/>
              </a:rPr>
              <a:t xml:space="preserve">01 · </a:t>
            </a:r>
            <a:r>
              <a:rPr lang="zh-CN" sz="975" b="1" spc="150">
                <a:solidFill>
                  <a:srgbClr val="6B6560"/>
                </a:solidFill>
                <a:latin typeface="思源黑体"/>
                <a:ea typeface="思源黑体"/>
              </a:rPr>
              <a:t>工程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971550" y="2219325"/>
            <a:ext cx="7429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1085850" y="2400300"/>
            <a:ext cx="400050" cy="57150"/>
          </a:xfrm>
          <a:prstGeom prst="roundRect">
            <a:avLst>
              <a:gd name="adj" fmla="val 50000"/>
            </a:avLst>
          </a:prstGeom>
          <a:solidFill>
            <a:srgbClr val="D9CFC2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085850" y="2533650"/>
            <a:ext cx="514350" cy="57150"/>
          </a:xfrm>
          <a:prstGeom prst="roundRect">
            <a:avLst>
              <a:gd name="adj" fmla="val 50000"/>
            </a:avLst>
          </a:prstGeom>
          <a:solidFill>
            <a:srgbClr val="D9CFC2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71550" y="3038475"/>
            <a:ext cx="262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一大堆文件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71550" y="32766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原料，没法直接玩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048125" y="25050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E8B98F"/>
                </a:solidFill>
                <a:latin typeface="思源黑体"/>
                <a:ea typeface="思源黑体"/>
              </a:rPr>
              <a:t>→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591050" y="1724025"/>
            <a:ext cx="3009900" cy="1905000"/>
          </a:xfrm>
          <a:prstGeom prst="roundRect">
            <a:avLst>
              <a:gd name="adj" fmla="val 8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781550" y="1914525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A8351A"/>
                </a:solidFill>
                <a:latin typeface="思源黑体"/>
                <a:ea typeface="思源黑体"/>
              </a:rPr>
              <a:t xml:space="preserve">02 · </a:t>
            </a:r>
            <a:r>
              <a:rPr lang="zh-CN" sz="975" b="1" spc="150">
                <a:solidFill>
                  <a:srgbClr val="A8351A"/>
                </a:solidFill>
                <a:latin typeface="思源黑体"/>
                <a:ea typeface="思源黑体"/>
              </a:rPr>
              <a:t>打包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781550" y="2219325"/>
            <a:ext cx="742950" cy="552450"/>
          </a:xfrm>
          <a:prstGeom prst="roundRect">
            <a:avLst>
              <a:gd name="adj" fmla="val 17241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000625" y="2409825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思源黑体"/>
                <a:ea typeface="思源黑体"/>
              </a:rPr>
              <a:t>APK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781550" y="3038475"/>
            <a:ext cx="262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思源黑体"/>
                <a:ea typeface="思源黑体"/>
              </a:rPr>
              <a:t>导出成</a:t>
            </a:r>
            <a:r>
              <a:rPr lang="en-US" sz="1275" b="1">
                <a:solidFill>
                  <a:srgbClr val="1A1A1A"/>
                </a:solidFill>
                <a:latin typeface="思源黑体"/>
                <a:ea typeface="思源黑体"/>
              </a:rPr>
              <a:t xml:space="preserve"> .apk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781550" y="32766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能安装的成品包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58125" y="2505075"/>
            <a:ext cx="285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E8B98F"/>
                </a:solidFill>
                <a:latin typeface="思源黑体"/>
                <a:ea typeface="思源黑体"/>
              </a:rPr>
              <a:t>→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401050" y="1724025"/>
            <a:ext cx="3009900" cy="19050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591550" y="1914525"/>
            <a:ext cx="2628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50">
                <a:solidFill>
                  <a:srgbClr val="C9C0B4"/>
                </a:solidFill>
                <a:latin typeface="思源黑体"/>
                <a:ea typeface="思源黑体"/>
              </a:rPr>
              <a:t xml:space="preserve">03 · </a:t>
            </a:r>
            <a:r>
              <a:rPr lang="zh-CN" sz="975" b="1" spc="150">
                <a:solidFill>
                  <a:srgbClr val="C9C0B4"/>
                </a:solidFill>
                <a:latin typeface="思源黑体"/>
                <a:ea typeface="思源黑体"/>
              </a:rPr>
              <a:t>模拟器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591550" y="2219325"/>
            <a:ext cx="819150" cy="495300"/>
          </a:xfrm>
          <a:prstGeom prst="roundRect">
            <a:avLst>
              <a:gd name="adj" fmla="val 34615"/>
            </a:avLst>
          </a:prstGeom>
          <a:ln w="50800">
            <a:solidFill>
              <a:srgbClr val="FFFFF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820150" y="2400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9048750" y="2400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591550" y="3038475"/>
            <a:ext cx="262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电脑里的假头显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591550" y="32766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C0B4"/>
                </a:solidFill>
                <a:latin typeface="思源黑体"/>
                <a:ea typeface="思源黑体"/>
              </a:rPr>
              <a:t>能看、能走、能截图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4152900"/>
            <a:ext cx="10972800" cy="15430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45434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工程</a:t>
            </a:r>
            <a:r>
              <a:rPr lang="en-US" sz="1275" b="1">
                <a:solidFill>
                  <a:srgbClr val="F97316"/>
                </a:solidFill>
                <a:latin typeface="思源黑体"/>
                <a:ea typeface="思源黑体"/>
              </a:rPr>
              <a:t xml:space="preserve"> ≠ </a:t>
            </a: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游戏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38200" y="4800600"/>
            <a:ext cx="33242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点开工程文件夹，是给软件看的原料，不是能玩的成品。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333875" y="4381500"/>
            <a:ext cx="9525" cy="800100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514850" y="454342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思源黑体"/>
                <a:ea typeface="思源黑体"/>
              </a:rPr>
              <a:t xml:space="preserve">APK ≠ </a:t>
            </a: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压缩包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514850" y="4800600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它像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.exe / .dmg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，是拿来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安装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的，不是解压就能用。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848600" y="4381500"/>
            <a:ext cx="9525" cy="800100"/>
          </a:xfrm>
          <a:prstGeom prst="rect">
            <a:avLst/>
          </a:pr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029575" y="4543425"/>
            <a:ext cx="3324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模拟器</a:t>
            </a:r>
            <a:r>
              <a:rPr lang="en-US" sz="1275" b="1">
                <a:solidFill>
                  <a:srgbClr val="F97316"/>
                </a:solidFill>
                <a:latin typeface="思源黑体"/>
                <a:ea typeface="思源黑体"/>
              </a:rPr>
              <a:t xml:space="preserve"> ≠ </a:t>
            </a: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真机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29575" y="4800600"/>
            <a:ext cx="33242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它是电脑里的替身，验收够用；最终体验仍要回真机看。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620000" y="0"/>
            <a:ext cx="4572000" cy="6858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915150" y="5334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667500" y="1143000"/>
            <a:ext cx="152400" cy="11430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F97316"/>
                </a:solidFill>
                <a:latin typeface="思源黑体"/>
                <a:ea typeface="思源黑体"/>
              </a:rPr>
              <a:t xml:space="preserve">PART 02 · </a:t>
            </a:r>
            <a:r>
              <a:rPr lang="zh-CN" sz="1125" b="1" spc="300">
                <a:solidFill>
                  <a:srgbClr val="F97316"/>
                </a:solidFill>
                <a:latin typeface="思源黑体"/>
                <a:ea typeface="思源黑体"/>
              </a:rPr>
              <a:t>动手准备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6286500" cy="21717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6450" b="1">
                <a:solidFill>
                  <a:srgbClr val="1A1A1A"/>
                </a:solidFill>
                <a:latin typeface="思源黑体"/>
                <a:ea typeface="思源黑体"/>
              </a:rPr>
              <a:t>想明白之后，</a:t>
            </a:r>
            <a:endParaRPr/>
          </a:p>
          <a:p>
            <a:pPr>
              <a:lnSpc>
                <a:spcPct val="110000"/>
              </a:lnSpc>
            </a:pPr>
            <a:r>
              <a:rPr lang="zh-CN" sz="6450" b="1">
                <a:solidFill>
                  <a:srgbClr val="1A1A1A"/>
                </a:solidFill>
                <a:latin typeface="思源黑体"/>
                <a:ea typeface="思源黑体"/>
              </a:rPr>
              <a:t>开始</a:t>
            </a:r>
            <a:r>
              <a:rPr lang="zh-CN" sz="6450" b="1">
                <a:solidFill>
                  <a:srgbClr val="F97316"/>
                </a:solidFill>
                <a:latin typeface="思源黑体"/>
                <a:ea typeface="思源黑体"/>
              </a:rPr>
              <a:t>动手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62000" y="4248150"/>
            <a:ext cx="62865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6560"/>
                </a:solidFill>
                <a:latin typeface="思源黑体"/>
                <a:ea typeface="思源黑体"/>
              </a:rPr>
              <a:t>认知部分到此为止。接下来只做三件事：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6560"/>
                </a:solidFill>
                <a:latin typeface="思源黑体"/>
                <a:ea typeface="思源黑体"/>
              </a:rPr>
              <a:t>确认机器、装好环境、验证能跑通。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077200" y="142875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接下来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077200" y="188595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077200" y="229552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看你的电脑够不够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77200" y="2562225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 xml:space="preserve">Mac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要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 xml:space="preserve"> M1 Pro+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，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 xml:space="preserve">Windows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要独显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077200" y="2981325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77200" y="339090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把环境装好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077200" y="3657600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六件事，大部分交给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077200" y="407670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77200" y="4486275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验证并跑通第一圈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77200" y="4752975"/>
            <a:ext cx="3657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三步验证，看到画面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62000" y="631507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410950" y="6315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开工前，先看你的电脑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硬门槛只有两条，不达标就别急着装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1257300"/>
            <a:ext cx="6667500" cy="4629150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1A1A1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621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官方门槛（</a:t>
            </a:r>
            <a:r>
              <a:rPr lang="en-US" sz="1350" b="1">
                <a:solidFill>
                  <a:srgbClr val="1A1A1A"/>
                </a:solidFill>
                <a:latin typeface="思源黑体"/>
                <a:ea typeface="思源黑体"/>
              </a:rPr>
              <a:t xml:space="preserve">2026-10 </a:t>
            </a: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核对）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38200" y="1809750"/>
            <a:ext cx="6210300" cy="381000"/>
          </a:xfrm>
          <a:prstGeom prst="roundRect">
            <a:avLst>
              <a:gd name="adj" fmla="val 2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351A"/>
                </a:solidFill>
                <a:latin typeface="思源黑体"/>
                <a:ea typeface="思源黑体"/>
              </a:rPr>
              <a:t>项目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076450" y="192405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8351A"/>
                </a:solidFill>
                <a:latin typeface="思源黑体"/>
                <a:ea typeface="思源黑体"/>
              </a:rPr>
              <a:t>macOS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562475" y="1924050"/>
            <a:ext cx="2486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8351A"/>
                </a:solidFill>
                <a:latin typeface="思源黑体"/>
                <a:ea typeface="思源黑体"/>
              </a:rPr>
              <a:t>Windows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38200" y="2190750"/>
            <a:ext cx="6210300" cy="533400"/>
          </a:xfrm>
          <a:custGeom>
            <a:pathLst>
              <a:path w="652" h="56">
                <a:moveTo>
                  <a:pt x="0" y="55"/>
                </a:moveTo>
                <a:lnTo>
                  <a:pt x="652" y="55"/>
                </a:lnTo>
                <a:lnTo>
                  <a:pt x="65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2371725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系统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076450" y="23717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14.0 </a:t>
            </a: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及以上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562475" y="23717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Win 10 64 </a:t>
            </a: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位及以上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38200" y="2724150"/>
            <a:ext cx="6210300" cy="533400"/>
          </a:xfrm>
          <a:custGeom>
            <a:pathLst>
              <a:path w="652" h="56">
                <a:moveTo>
                  <a:pt x="0" y="55"/>
                </a:moveTo>
                <a:lnTo>
                  <a:pt x="652" y="55"/>
                </a:lnTo>
                <a:lnTo>
                  <a:pt x="65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内存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076450" y="29051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>16GB+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562475" y="29051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>16GB+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38200" y="3257550"/>
            <a:ext cx="6210300" cy="533400"/>
          </a:xfrm>
          <a:custGeom>
            <a:pathLst>
              <a:path w="652" h="56">
                <a:moveTo>
                  <a:pt x="0" y="55"/>
                </a:moveTo>
                <a:lnTo>
                  <a:pt x="652" y="55"/>
                </a:lnTo>
                <a:lnTo>
                  <a:pt x="65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8200" y="3438525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硬盘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076450" y="34385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40GB+ </a:t>
            </a: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可用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40GB+ </a:t>
            </a: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可用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38200" y="3790950"/>
            <a:ext cx="6210300" cy="533400"/>
          </a:xfrm>
          <a:custGeom>
            <a:pathLst>
              <a:path w="652" h="56">
                <a:moveTo>
                  <a:pt x="0" y="55"/>
                </a:moveTo>
                <a:lnTo>
                  <a:pt x="652" y="55"/>
                </a:lnTo>
                <a:lnTo>
                  <a:pt x="65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3971925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芯片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显卡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076450" y="39719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8351A"/>
                </a:solidFill>
                <a:latin typeface="思源黑体"/>
                <a:ea typeface="思源黑体"/>
              </a:rPr>
              <a:t xml:space="preserve">M1 Pro </a:t>
            </a: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及以上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562475" y="39719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8351A"/>
                </a:solidFill>
                <a:latin typeface="思源黑体"/>
                <a:ea typeface="思源黑体"/>
              </a:rPr>
              <a:t xml:space="preserve">i5 + GTX 1060 </a:t>
            </a: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独显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38200" y="4514850"/>
            <a:ext cx="12382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网络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076450" y="45053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能访问</a:t>
            </a: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 GitHub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562475" y="4505325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思源黑体"/>
                <a:ea typeface="思源黑体"/>
              </a:rPr>
              <a:t>能访问</a:t>
            </a:r>
            <a:r>
              <a:rPr lang="en-US" sz="1125">
                <a:solidFill>
                  <a:srgbClr val="1A1A1A"/>
                </a:solidFill>
                <a:latin typeface="思源黑体"/>
                <a:ea typeface="思源黑体"/>
              </a:rPr>
              <a:t xml:space="preserve"> GitHub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38200" y="5267325"/>
            <a:ext cx="6210300" cy="390525"/>
          </a:xfrm>
          <a:prstGeom prst="roundRect">
            <a:avLst>
              <a:gd name="adj" fmla="val 2439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52500" y="5381625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Intel Mac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不支持；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M1 / M2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基础款属于擦边，可能极慢或起不来。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20000" y="1257300"/>
            <a:ext cx="39624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真正的门槛，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只有两条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658100" y="2409825"/>
            <a:ext cx="3962400" cy="962025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658100" y="2409825"/>
            <a:ext cx="3962400" cy="962025"/>
          </a:xfrm>
          <a:custGeom>
            <a:pathLst>
              <a:path w="416" h="101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91"/>
                </a:lnTo>
                <a:cubicBezTo>
                  <a:pt x="4" y="95"/>
                  <a:pt x="7" y="99"/>
                  <a:pt x="11" y="101"/>
                </a:cubicBezTo>
                <a:cubicBezTo>
                  <a:pt x="5" y="99"/>
                  <a:pt x="0" y="94"/>
                  <a:pt x="0" y="8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829550" y="258127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178"/>
                </a:solidFill>
                <a:latin typeface="思源黑体"/>
                <a:ea typeface="思源黑体"/>
              </a:rPr>
              <a:t>Mac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829550" y="27717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芯片至少</a:t>
            </a: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 xml:space="preserve"> M1 Pro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29550" y="3038475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不是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苹果芯片就行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，基础款会明显吃紧。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658100" y="3695700"/>
            <a:ext cx="3962400" cy="962025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658100" y="3695700"/>
            <a:ext cx="3962400" cy="962025"/>
          </a:xfrm>
          <a:custGeom>
            <a:pathLst>
              <a:path w="416" h="101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91"/>
                </a:lnTo>
                <a:cubicBezTo>
                  <a:pt x="4" y="95"/>
                  <a:pt x="7" y="99"/>
                  <a:pt x="11" y="101"/>
                </a:cubicBezTo>
                <a:cubicBezTo>
                  <a:pt x="5" y="99"/>
                  <a:pt x="0" y="94"/>
                  <a:pt x="0" y="8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829550" y="3867150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178"/>
                </a:solidFill>
                <a:latin typeface="思源黑体"/>
                <a:ea typeface="思源黑体"/>
              </a:rPr>
              <a:t>Windows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29550" y="4057650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要有独显</a:t>
            </a: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 xml:space="preserve"> GTX 1060+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29550" y="4324350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只有集显的轻薄本，模拟器起不来，且无解。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7620000" y="4972050"/>
            <a:ext cx="3962400" cy="914400"/>
          </a:xfrm>
          <a:prstGeom prst="roundRect">
            <a:avLst>
              <a:gd name="adj" fmla="val 14583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791450" y="5143500"/>
            <a:ext cx="3619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A8351A"/>
                </a:solidFill>
                <a:latin typeface="思源黑体"/>
                <a:ea typeface="思源黑体"/>
              </a:rPr>
              <a:t>先确认机器，再开始装——换机器比装到一半才发现要省事得多。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装环境：谁做什么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六件事，把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能自动的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和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要你点的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分开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1257300"/>
            <a:ext cx="3238500" cy="4629150"/>
          </a:xfrm>
          <a:prstGeom prst="roundRect">
            <a:avLst>
              <a:gd name="adj" fmla="val 5882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57250" y="150495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C9C0B4"/>
                </a:solidFill>
                <a:latin typeface="思源黑体"/>
                <a:ea typeface="思源黑体"/>
              </a:rPr>
              <a:t>SETUP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57250" y="1752600"/>
            <a:ext cx="2743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六件事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57250" y="2743200"/>
            <a:ext cx="2743200" cy="1924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600" b="1">
                <a:solidFill>
                  <a:srgbClr val="F97316"/>
                </a:solidFill>
                <a:latin typeface="思源黑体"/>
                <a:ea typeface="思源黑体"/>
              </a:rPr>
              <a:t>6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57250" y="520065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思源黑体"/>
                <a:ea typeface="思源黑体"/>
              </a:rPr>
              <a:t xml:space="preserve">4 </a:t>
            </a:r>
            <a:r>
              <a:rPr lang="zh-CN" sz="1200">
                <a:solidFill>
                  <a:srgbClr val="FFFFFF"/>
                </a:solidFill>
                <a:latin typeface="思源黑体"/>
                <a:ea typeface="思源黑体"/>
              </a:rPr>
              <a:t>件交给</a:t>
            </a:r>
            <a:r>
              <a:rPr lang="en-US" sz="1200">
                <a:solidFill>
                  <a:srgbClr val="FFFFFF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BBF24"/>
                </a:solidFill>
                <a:latin typeface="思源黑体"/>
                <a:ea typeface="思源黑体"/>
              </a:rPr>
              <a:t xml:space="preserve">2 </a:t>
            </a:r>
            <a:r>
              <a:rPr lang="zh-CN" sz="1200">
                <a:solidFill>
                  <a:srgbClr val="FBBF24"/>
                </a:solidFill>
                <a:latin typeface="思源黑体"/>
                <a:ea typeface="思源黑体"/>
              </a:rPr>
              <a:t>件你亲手</a:t>
            </a:r>
            <a:r>
              <a:rPr lang="en-US" sz="1200">
                <a:solidFill>
                  <a:srgbClr val="FBBF24"/>
                </a:solidFill>
                <a:latin typeface="思源黑体"/>
                <a:ea typeface="思源黑体"/>
              </a:rPr>
              <a:t xml:space="preserve"> / </a:t>
            </a:r>
            <a:r>
              <a:rPr lang="zh-CN" sz="1200">
                <a:solidFill>
                  <a:srgbClr val="FBBF24"/>
                </a:solidFill>
                <a:latin typeface="思源黑体"/>
                <a:ea typeface="思源黑体"/>
              </a:rPr>
              <a:t>找</a:t>
            </a:r>
            <a:r>
              <a:rPr lang="en-US" sz="1200">
                <a:solidFill>
                  <a:srgbClr val="FBBF24"/>
                </a:solidFill>
                <a:latin typeface="思源黑体"/>
                <a:ea typeface="思源黑体"/>
              </a:rPr>
              <a:t xml:space="preserve"> IT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229100" y="12573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1A1A"/>
                </a:solidFill>
                <a:latin typeface="思源黑体"/>
                <a:ea typeface="思源黑体"/>
              </a:rPr>
              <a:t>六步清单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0382250" y="1343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534650" y="1314450"/>
            <a:ext cx="400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代劳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11087100" y="1343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239500" y="1314450"/>
            <a:ext cx="342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你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/ IT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164782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381500" y="1857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800600" y="176212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装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Git LFS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800600" y="197167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最容易漏，漏了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SDK 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会静默失败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10744200" y="180975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896600" y="187642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A835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900" b="1">
                <a:solidFill>
                  <a:srgbClr val="A8351A"/>
                </a:solidFill>
                <a:latin typeface="思源黑体"/>
                <a:ea typeface="思源黑体"/>
              </a:rPr>
              <a:t>代劳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229100" y="231457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381500" y="25241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800600" y="242887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装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Node.js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800600" y="263842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为装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pico-cli 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打底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10744200" y="24765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896600" y="25431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A835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900" b="1">
                <a:solidFill>
                  <a:srgbClr val="A8351A"/>
                </a:solidFill>
                <a:latin typeface="思源黑体"/>
                <a:ea typeface="思源黑体"/>
              </a:rPr>
              <a:t>代劳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4229100" y="298132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EC489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381500" y="31908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C4899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800600" y="309562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开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Windows </a:t>
            </a: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虚拟化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800600" y="330517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涉及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BIOS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，找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IT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；改完必须重启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0744200" y="314325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0934700" y="3209925"/>
            <a:ext cx="314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93556"/>
                </a:solidFill>
                <a:latin typeface="思源黑体"/>
                <a:ea typeface="思源黑体"/>
              </a:rPr>
              <a:t>你</a:t>
            </a:r>
            <a:r>
              <a:rPr lang="en-US" sz="900" b="1">
                <a:solidFill>
                  <a:srgbClr val="993556"/>
                </a:solidFill>
                <a:latin typeface="思源黑体"/>
                <a:ea typeface="思源黑体"/>
              </a:rPr>
              <a:t xml:space="preserve"> / IT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229100" y="364807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EC489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381500" y="38576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C4899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800600" y="376237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装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Unity Hub + </a:t>
            </a: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编辑器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800600" y="397192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必须勾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Android Build Support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10744200" y="38100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915650" y="38766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993556"/>
                </a:solidFill>
                <a:latin typeface="思源黑体"/>
                <a:ea typeface="思源黑体"/>
              </a:rPr>
              <a:t>你亲手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229100" y="431482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381500" y="4524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800600" y="442912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装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pico-cli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800600" y="463867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官方的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开发入口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10744200" y="447675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896600" y="454342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A835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900" b="1">
                <a:solidFill>
                  <a:srgbClr val="A8351A"/>
                </a:solidFill>
                <a:latin typeface="思源黑体"/>
                <a:ea typeface="思源黑体"/>
              </a:rPr>
              <a:t>代劳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229100" y="4981575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381500" y="51911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97316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800600" y="509587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1A1A"/>
                </a:solidFill>
                <a:latin typeface="思源黑体"/>
                <a:ea typeface="思源黑体"/>
              </a:rPr>
              <a:t>跑一次</a:t>
            </a:r>
            <a:r>
              <a:rPr lang="en-US" sz="1200" b="1">
                <a:solidFill>
                  <a:srgbClr val="1A1A1A"/>
                </a:solidFill>
                <a:latin typeface="思源黑体"/>
                <a:ea typeface="思源黑体"/>
              </a:rPr>
              <a:t xml:space="preserve"> pico-cli setup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800600" y="5305425"/>
            <a:ext cx="5810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平台选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Unity</a:t>
            </a:r>
            <a:r>
              <a:rPr lang="zh-CN" sz="975">
                <a:solidFill>
                  <a:srgbClr val="6B6560"/>
                </a:solidFill>
                <a:latin typeface="思源黑体"/>
                <a:ea typeface="思源黑体"/>
              </a:rPr>
              <a:t>，区域选</a:t>
            </a:r>
            <a:r>
              <a:rPr lang="en-US" sz="975">
                <a:solidFill>
                  <a:srgbClr val="6B6560"/>
                </a:solidFill>
                <a:latin typeface="思源黑体"/>
                <a:ea typeface="思源黑体"/>
              </a:rPr>
              <a:t xml:space="preserve"> cn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10744200" y="5143500"/>
            <a:ext cx="685800" cy="266700"/>
          </a:xfrm>
          <a:prstGeom prst="roundRect">
            <a:avLst>
              <a:gd name="adj" fmla="val 50000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896600" y="52101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A835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900" b="1">
                <a:solidFill>
                  <a:srgbClr val="A8351A"/>
                </a:solidFill>
                <a:latin typeface="思源黑体"/>
                <a:ea typeface="思源黑体"/>
              </a:rPr>
              <a:t>代劳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懒得一步步来？一句话梭哈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装好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 xml:space="preserve"> Unity 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之后，把这段整段复制给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1257300"/>
            <a:ext cx="7086600" cy="4629150"/>
          </a:xfrm>
          <a:prstGeom prst="roundRect">
            <a:avLst>
              <a:gd name="adj" fmla="val 4115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38200" y="1562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28700" y="152400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C9C0B4"/>
                </a:solidFill>
                <a:latin typeface="思源黑体"/>
                <a:ea typeface="思源黑体"/>
              </a:rPr>
              <a:t xml:space="preserve">PROMPT · </a:t>
            </a:r>
            <a:r>
              <a:rPr lang="zh-CN" sz="1125" b="1" spc="150">
                <a:solidFill>
                  <a:srgbClr val="C9C0B4"/>
                </a:solidFill>
                <a:latin typeface="思源黑体"/>
                <a:ea typeface="思源黑体"/>
              </a:rPr>
              <a:t>整段复制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19800" y="1485900"/>
            <a:ext cx="1447800" cy="247650"/>
          </a:xfrm>
          <a:prstGeom prst="roundRect">
            <a:avLst>
              <a:gd name="adj" fmla="val 50000"/>
            </a:avLst>
          </a:prstGeom>
          <a:solidFill>
            <a:srgbClr val="F97316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134100" y="1543050"/>
            <a:ext cx="121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BF24"/>
                </a:solidFill>
                <a:latin typeface="思源黑体"/>
                <a:ea typeface="思源黑体"/>
              </a:rPr>
              <a:t>只改</a:t>
            </a:r>
            <a:r>
              <a:rPr lang="en-US" sz="900" b="1">
                <a:solidFill>
                  <a:srgbClr val="FBBF24"/>
                </a:solidFill>
                <a:latin typeface="思源黑体"/>
                <a:ea typeface="思源黑体"/>
              </a:rPr>
              <a:t xml:space="preserve"> &lt;Mac / Windows&gt;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38200" y="1866900"/>
            <a:ext cx="6629400" cy="3790950"/>
          </a:xfrm>
          <a:prstGeom prst="roundRect">
            <a:avLst>
              <a:gd name="adj" fmla="val 3015"/>
            </a:avLst>
          </a:prstGeom>
          <a:solidFill>
            <a:srgbClr val="2A2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47750" y="2266950"/>
            <a:ext cx="6210300" cy="10191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我是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VR 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开发新手，不写代码，电脑是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&lt;Mac / Windows&gt;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。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请帮我把做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PICO VR 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的开发环境一次装好。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需要点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允许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、输密码、重启时，提前提醒我。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47750" y="3419475"/>
            <a:ext cx="6210300" cy="10191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要装：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>Git LFS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、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>Node.js 20+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、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>pico-cli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，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再跑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pico-cli setup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（平台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Unity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、区域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cn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）；</a:t>
            </a:r>
            <a:endParaRPr/>
          </a:p>
          <a:p>
            <a:pPr>
              <a:lnSpc>
                <a:spcPct val="185000"/>
              </a:lnSpc>
            </a:pP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Windows 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顺便检查虚拟化有没有开。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47750" y="4572000"/>
            <a:ext cx="6210300" cy="685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装完跑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pico-cli doctor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，红色</a:t>
            </a:r>
            <a:r>
              <a:rPr lang="en-US" sz="1200">
                <a:solidFill>
                  <a:srgbClr val="E8E0D6"/>
                </a:solidFill>
                <a:latin typeface="思源黑体"/>
                <a:ea typeface="思源黑体"/>
              </a:rPr>
              <a:t xml:space="preserve"> error </a:t>
            </a: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自己修，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E8E0D6"/>
                </a:solidFill>
                <a:latin typeface="思源黑体"/>
                <a:ea typeface="思源黑体"/>
              </a:rPr>
              <a:t>修不了再问我。最后把结果和截图发我。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77200" y="125730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8A8178"/>
                </a:solidFill>
                <a:latin typeface="思源黑体"/>
                <a:ea typeface="思源黑体"/>
              </a:rPr>
              <a:t>IT DOES ALL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077200" y="1514475"/>
            <a:ext cx="3505200" cy="7429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1A1A"/>
                </a:solidFill>
                <a:latin typeface="思源黑体"/>
                <a:ea typeface="思源黑体"/>
              </a:rPr>
              <a:t>它一次做完</a:t>
            </a:r>
            <a:endParaRPr/>
          </a:p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1A1A1A"/>
                </a:solidFill>
                <a:latin typeface="思源黑体"/>
                <a:ea typeface="思源黑体"/>
              </a:rPr>
              <a:t>第</a:t>
            </a:r>
            <a:r>
              <a:rPr lang="en-US" sz="1800" b="1">
                <a:solidFill>
                  <a:srgbClr val="1A1A1A"/>
                </a:solidFill>
                <a:latin typeface="思源黑体"/>
                <a:ea typeface="思源黑体"/>
              </a:rPr>
              <a:t xml:space="preserve"> 1</a:t>
            </a:r>
            <a:r>
              <a:rPr lang="zh-CN" sz="1800" b="1">
                <a:solidFill>
                  <a:srgbClr val="1A1A1A"/>
                </a:solidFill>
                <a:latin typeface="思源黑体"/>
                <a:ea typeface="思源黑体"/>
              </a:rPr>
              <a:t>～</a:t>
            </a:r>
            <a:r>
              <a:rPr lang="en-US" sz="1800" b="1">
                <a:solidFill>
                  <a:srgbClr val="1A1A1A"/>
                </a:solidFill>
                <a:latin typeface="思源黑体"/>
                <a:ea typeface="思源黑体"/>
              </a:rPr>
              <a:t xml:space="preserve">6 </a:t>
            </a:r>
            <a:r>
              <a:rPr lang="zh-CN" sz="1800" b="1">
                <a:solidFill>
                  <a:srgbClr val="1A1A1A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077200" y="25241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229600" y="246697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>Git LFS</a:t>
            </a:r>
            <a:r>
              <a:rPr lang="zh-CN" sz="1125">
                <a:solidFill>
                  <a:srgbClr val="3F3A36"/>
                </a:solidFill>
                <a:latin typeface="思源黑体"/>
                <a:ea typeface="思源黑体"/>
              </a:rPr>
              <a:t>（最易漏的一步）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8077200" y="2819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229600" y="2762250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>Node.js 20+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8077200" y="3114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229600" y="305752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>pico-cli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8077200" y="34099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229600" y="33528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>pico-cli setup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77200" y="37052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229600" y="36480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F3A36"/>
                </a:solidFill>
                <a:latin typeface="思源黑体"/>
                <a:ea typeface="思源黑体"/>
              </a:rPr>
              <a:t>虚拟化检查（仅</a:t>
            </a: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 xml:space="preserve"> Windows</a:t>
            </a:r>
            <a:r>
              <a:rPr lang="zh-CN" sz="1125">
                <a:solidFill>
                  <a:srgbClr val="3F3A36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077200" y="4000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29600" y="3943350"/>
            <a:ext cx="1209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F3A36"/>
                </a:solidFill>
                <a:latin typeface="思源黑体"/>
                <a:ea typeface="思源黑体"/>
              </a:rPr>
              <a:t xml:space="preserve">pico-cli doctor </a:t>
            </a:r>
            <a:r>
              <a:rPr lang="zh-CN" sz="1125">
                <a:solidFill>
                  <a:srgbClr val="3F3A36"/>
                </a:solidFill>
                <a:latin typeface="思源黑体"/>
                <a:ea typeface="思源黑体"/>
              </a:rPr>
              <a:t>体检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077200" y="5276850"/>
            <a:ext cx="35052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48650" y="5448300"/>
            <a:ext cx="3162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它说</a:t>
            </a:r>
            <a:r>
              <a:rPr lang="en-US" sz="1125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装好了</a:t>
            </a:r>
            <a:r>
              <a:rPr lang="en-US" sz="1125" b="1">
                <a:solidFill>
                  <a:srgbClr val="A8351A"/>
                </a:solidFill>
                <a:latin typeface="思源黑体"/>
                <a:ea typeface="思源黑体"/>
              </a:rPr>
              <a:t>"</a:t>
            </a: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不算，要看</a:t>
            </a:r>
            <a:r>
              <a:rPr lang="en-US" sz="1125" b="1">
                <a:solidFill>
                  <a:srgbClr val="A8351A"/>
                </a:solidFill>
                <a:latin typeface="思源黑体"/>
                <a:ea typeface="思源黑体"/>
              </a:rPr>
              <a:t xml:space="preserve"> doctor </a:t>
            </a: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输出和截图。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三步验证，才算就绪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装完不等于好了，要能证明它真的通了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1333500"/>
            <a:ext cx="7086600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819150" y="17049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97316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990600" y="18192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97316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409700" y="166687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跑一次体检：</a:t>
            </a:r>
            <a:r>
              <a:rPr lang="en-US" sz="1500" b="1">
                <a:solidFill>
                  <a:srgbClr val="1A1A1A"/>
                </a:solidFill>
                <a:latin typeface="思源黑体"/>
                <a:ea typeface="思源黑体"/>
              </a:rPr>
              <a:t xml:space="preserve">doctor </a:t>
            </a: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不报红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409700" y="1933575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黄色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warn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通常不影响，可以继续；红色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error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就原样丢给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2667000"/>
            <a:ext cx="7086600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19150" y="30384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97316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0600" y="31527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97316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409700" y="300037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1A1A"/>
                </a:solidFill>
                <a:latin typeface="思源黑体"/>
                <a:ea typeface="思源黑体"/>
              </a:rPr>
              <a:t>模拟器能打开、能走动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409700" y="3267075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弹出一个</a:t>
            </a:r>
            <a:r>
              <a:rPr lang="en-US" sz="1125">
                <a:solidFill>
                  <a:srgbClr val="6B6560"/>
                </a:solidFill>
                <a:latin typeface="思源黑体"/>
                <a:ea typeface="思源黑体"/>
              </a:rPr>
              <a:t xml:space="preserve"> VR </a:t>
            </a:r>
            <a:r>
              <a:rPr lang="zh-CN" sz="1125">
                <a:solidFill>
                  <a:srgbClr val="6B6560"/>
                </a:solidFill>
                <a:latin typeface="思源黑体"/>
                <a:ea typeface="思源黑体"/>
              </a:rPr>
              <a:t>房间（床、台灯、书架），设备列表里能看到模拟器编号。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000500"/>
            <a:ext cx="7086600" cy="1181100"/>
          </a:xfrm>
          <a:prstGeom prst="roundRect">
            <a:avLst>
              <a:gd name="adj" fmla="val 12903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19150" y="43719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90600" y="44862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409700" y="4333875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让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截一张画面给你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409700" y="4600575"/>
            <a:ext cx="6076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收到图，说明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能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看见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画面——以后所有验收都靠这一步。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077200" y="125730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8A8178"/>
                </a:solidFill>
                <a:latin typeface="思源黑体"/>
                <a:ea typeface="思源黑体"/>
              </a:rPr>
              <a:t>CHECKPOINT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077200" y="1695450"/>
            <a:ext cx="35052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FBBF24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077200" y="3771900"/>
            <a:ext cx="3505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步验证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077200" y="4352925"/>
            <a:ext cx="35052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三步全过，才叫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准备就绪</a:t>
            </a:r>
            <a:r>
              <a:rPr lang="en-US" sz="1275">
                <a:solidFill>
                  <a:srgbClr val="3F3A36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F3A36"/>
                </a:solidFill>
                <a:latin typeface="思源黑体"/>
                <a:ea typeface="思源黑体"/>
              </a:rPr>
              <a:t>。任何一步没过，就回到上一步——不用从头再来。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077200" y="5276850"/>
            <a:ext cx="3505200" cy="609600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248650" y="5448300"/>
            <a:ext cx="31623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A8351A"/>
                </a:solidFill>
                <a:latin typeface="思源黑体"/>
                <a:ea typeface="思源黑体"/>
              </a:rPr>
              <a:t>验收的唯一标准：你亲眼看到的那张截图。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37" name="" descr="&lt;Slide style={{ width: 1280, height: 720, background: '#FAF7F2', position: 'relative', overflow: 'hidden', fontFamily: '思源黑体' }}&gt;&#10;    &lt;Box style={{ position: 'absolute', left: 64, top: 30, width: 1000 }}&gt;&#10;        &lt;Text style={{ fontSize: 34, fontWeight: 'bold', color: '#1A1A1A' }}&gt;跑通第一圈&lt;/Text&gt;&#10;        &lt;Text style={{ fontSize: 17, color: '#8A8178', marginTop: 6 }}&gt;把一段话丢给 AI，然后等一张截图&lt;/Text&gt;&#10;    &lt;/Box&gt;&#10;&#10;    &lt;Box style={{ position: 'absolute', left: 64, top: 132, width: 664, height: 486, background: '#1A1A1A', borderRadius: 20, padding: 18, flexDirection: 'column' }}&gt;&#10;        &lt;Box style={{ flexDirection: 'row', gap: 6, alignItems: 'center' }}&gt;&#10;            &lt;Box style={{ width: 10, height: 10, borderRadius: 5, background: '#F97316' }} /&gt;&#10;            &lt;Box style={{ width: 10, height: 10, borderRadius: 5, background: '#FBBF24' }} /&gt;&#10;            &lt;Box style={{ width: 10, height: 10, borderRadius: 5, background: '#EC4899' }} /&gt;&#10;            &lt;Text style={{ fontSize: 12, color: '#8A8178', marginLeft: 8 }}&gt;PICO Emulator · emulator-5554&lt;/Text&gt;&#10;        &lt;/Box&gt;&#10;        &lt;Box style={{ width: 628, height: 392, marginTop: 12, borderRadius: 12, overflow: 'hidden' }}&gt;&#10;            &lt;Image src=&quot;assets/picohammer_scene.png&quot; style={{ width: 628, height: 392, objectFit: 'cover' }} /&gt;&#10;        &lt;/Box&gt;&#10;        &lt;Box style={{ flexDirection: 'row', alignItems: 'center', justifyContent: 'space-between', marginTop: 12 }}&gt;&#10;            &lt;Text style={{ fontSize: 14, color: '#C9C0B4' }}&gt;AI 发给你的第一张图，就是这一张。&lt;/Text&gt;&#10;            &lt;Text style={{ fontSize: 13, color: '#8A8178' }}&gt;真实截图 · PicoHammerDemo&lt;/Text&gt;&#10;        &lt;/Box&gt;&#10;    &lt;/Box&gt;&#10;&#10;    &lt;Box style={{ position: 'absolute', left: 764, top: 132, width: 452, height: 486, flexDirection: 'column', justifyContent: 'space-between' }}&gt;&#10;        &lt;Box style={{ flexDirection: 'row', alignItems: 'flex-start', justifyContent: 'space-between' }}&gt;&#10;            &lt;Text style={{ fontSize: 26, fontWeight: 'bold', color: '#1A1A1A', lineHeight: 1.4 }}&gt;把这段话&lt;br /&gt;整段复制给 AI&lt;/Text&gt;&#10;            &lt;Box style={{ width: 64, height: 64, borderRadius: 32, background: '#F97316', alignItems: 'center', justifyContent: 'center' }}&gt;&#10;                &lt;Text style={{ fontSize: 26, fontWeight: 'bold', color: '#FFFFFF' }}&gt;↓&lt;/Text&gt;&#10;            &lt;/Box&gt;&#10;        &lt;/Box&gt;&#10;        &lt;Box style={{ background: '#FFFFFF', borderRadius: 14, padding: 18, borderLeft: '4px solid #F97316', boxShadow: '0 4px 14px rgba(26,26,26,0.06)' }}&gt;&#10;            &lt;Text style={{ fontSize: 14, color: '#6B6560', lineHeight: 1.7 }}&gt;项目在 &amp;lt;路径&amp;gt;/PicoHammerDemo。&lt;br /&gt;请帮我：打开工程 → 打包成 APK → 装进模拟器 → 截图给我看。&lt;br /&gt;中间报错，先查日志定位，不要猜。&lt;/Text&gt;&#10;        &lt;/Box&gt;&#10;        &lt;Box style={{ flexDirection: 'column', gap: 4 }}&gt;&#10;            &lt;Text style={{ fontSize: 17, fontWeight: 'bold', color: '#F97316' }}&gt;成功标志&lt;/Text&gt;&#10;            &lt;Text style={{ fontSize: 16, color: '#3F3A36', lineHeight: 1.6 }}&gt;你收到一张游戏画面截图——就是左边这种。看到它，第一圈就算跑通了。&lt;/Text&gt;&#10;        &lt;/Box&gt;&#10;        &lt;Box style={{ background: 'rgba(249,115,22,0.10)', borderRadius: 14, padding: 16, flexDirection: 'row', alignItems: 'center', justifyContent: 'space-between' }}&gt;&#10;            &lt;Text style={{ fontSize: 15, color: '#A8351A' }}&gt;第一次打包约&lt;/Text&gt;&#10;            &lt;Text style={{ fontSize: 22, fontWeight: 'bold', color: '#A8351A' }}&gt;8 分钟&lt;/Text&gt;&#10;            &lt;Text style={{ fontSize: 14, color: '#A8351A' }}&gt;之后 1–2 分钟&lt;/Text&gt;&#10;        &lt;/Box&gt;&#10;    &lt;/Box&gt;&#10;&#10;    &lt;Text style={{ position: 'absolute', left: 64, bottom: 14, fontSize: 14, color: '#8A8178' }}&gt;PICO VR 新人培训&lt;/Text&gt;&#10;    &lt;Text style={{ position: 'absolute', right: 64, bottom: 14, fontSize: 14, color: '#8A8178' }}&gt;16 / 1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跑通第一圈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把一段话丢给</a:t>
            </a:r>
            <a:r>
              <a:rPr lang="en-US" sz="1275">
                <a:solidFill>
                  <a:srgbClr val="8A8178"/>
                </a:solidFill>
                <a:latin typeface="思源黑体"/>
                <a:ea typeface="思源黑体"/>
              </a:rPr>
              <a:t xml:space="preserve"> AI</a:t>
            </a: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，然后等一张截图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1257300"/>
            <a:ext cx="6324600" cy="4629150"/>
          </a:xfrm>
          <a:prstGeom prst="roundRect">
            <a:avLst>
              <a:gd name="adj" fmla="val 4115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78105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93345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108585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314450" y="142875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178"/>
                </a:solidFill>
                <a:latin typeface="思源黑体"/>
                <a:ea typeface="思源黑体"/>
              </a:rPr>
              <a:t>PICO Emulator · emulator-5554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781050" y="1685925"/>
            <a:ext cx="5981700" cy="3733800"/>
          </a:xfrm>
          <a:prstGeom prst="roundRect">
            <a:avLst>
              <a:gd name="adj" fmla="val 3061"/>
            </a:avLst>
          </a:prstGeom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 r:embed="rId1"/>
          <a:srcRect l="0" t="63" r="0" b="63"/>
          <a:stretch>
            <a:fillRect/>
          </a:stretch>
        </p:blipFill>
        <p:spPr>
          <a:xfrm rot="0" flipH="0" flipV="0">
            <a:off x="781050" y="1685925"/>
            <a:ext cx="5981700" cy="3733800"/>
          </a:xfrm>
          <a:custGeom>
            <a:pathLst>
              <a:path w="628" h="392">
                <a:moveTo>
                  <a:pt x="616" y="0"/>
                </a:moveTo>
                <a:cubicBezTo>
                  <a:pt x="623" y="0"/>
                  <a:pt x="628" y="5"/>
                  <a:pt x="628" y="12"/>
                </a:cubicBezTo>
                <a:lnTo>
                  <a:pt x="628" y="380"/>
                </a:lnTo>
                <a:cubicBezTo>
                  <a:pt x="628" y="387"/>
                  <a:pt x="623" y="392"/>
                  <a:pt x="616" y="392"/>
                </a:cubicBezTo>
                <a:lnTo>
                  <a:pt x="12" y="392"/>
                </a:lnTo>
                <a:cubicBezTo>
                  <a:pt x="5" y="392"/>
                  <a:pt x="0" y="387"/>
                  <a:pt x="0" y="38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16" y="0"/>
                </a:lnTo>
                <a:close/>
              </a:path>
            </a:pathLst>
          </a:cu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81050" y="553402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9C0B4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050">
                <a:solidFill>
                  <a:srgbClr val="C9C0B4"/>
                </a:solidFill>
                <a:latin typeface="思源黑体"/>
                <a:ea typeface="思源黑体"/>
              </a:rPr>
              <a:t>发给你的第一张图，就是这一张。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114925" y="5543550"/>
            <a:ext cx="1647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178"/>
                </a:solidFill>
                <a:latin typeface="思源黑体"/>
                <a:ea typeface="思源黑体"/>
              </a:rPr>
              <a:t>真实截图</a:t>
            </a:r>
            <a:r>
              <a:rPr lang="en-US" sz="975">
                <a:solidFill>
                  <a:srgbClr val="8A8178"/>
                </a:solidFill>
                <a:latin typeface="思源黑体"/>
                <a:ea typeface="思源黑体"/>
              </a:rPr>
              <a:t xml:space="preserve"> · PicoHammerDemo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277100" y="1257300"/>
            <a:ext cx="15621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把这段话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A1A1A"/>
                </a:solidFill>
                <a:latin typeface="思源黑体"/>
                <a:ea typeface="思源黑体"/>
              </a:rPr>
              <a:t>整段复制给</a:t>
            </a:r>
            <a:r>
              <a:rPr lang="en-US" sz="1950" b="1">
                <a:solidFill>
                  <a:srgbClr val="1A1A1A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0972800" y="12573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191875" y="1409700"/>
            <a:ext cx="180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思源黑体"/>
                <a:ea typeface="思源黑体"/>
              </a:rPr>
              <a:t>↓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315200" y="2505075"/>
            <a:ext cx="4305300" cy="1162050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7315200" y="2505075"/>
            <a:ext cx="4305300" cy="1162050"/>
          </a:xfrm>
          <a:custGeom>
            <a:pathLst>
              <a:path w="452" h="12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12"/>
                </a:lnTo>
                <a:cubicBezTo>
                  <a:pt x="4" y="116"/>
                  <a:pt x="7" y="120"/>
                  <a:pt x="11" y="122"/>
                </a:cubicBezTo>
                <a:cubicBezTo>
                  <a:pt x="5" y="120"/>
                  <a:pt x="0" y="115"/>
                  <a:pt x="0" y="10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86650" y="2676525"/>
            <a:ext cx="3924300" cy="8191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项目在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&lt;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路径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&gt;/PicoHammerDemo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请帮我：打开工程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打包成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APK →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装进模拟器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→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截图给我看。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中间报错，先查日志定位，不要猜。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277100" y="408622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97316"/>
                </a:solidFill>
                <a:latin typeface="思源黑体"/>
                <a:ea typeface="思源黑体"/>
              </a:rPr>
              <a:t>成功标志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277100" y="4324350"/>
            <a:ext cx="4305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你收到一张游戏画面截图——就是左边这种。看到它，第一圈就算跑通了。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277100" y="5324475"/>
            <a:ext cx="4305300" cy="561975"/>
          </a:xfrm>
          <a:prstGeom prst="roundRect">
            <a:avLst>
              <a:gd name="adj" fmla="val 23729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429500" y="5524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351A"/>
                </a:solidFill>
                <a:latin typeface="思源黑体"/>
                <a:ea typeface="思源黑体"/>
              </a:rPr>
              <a:t>第一次打包约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144000" y="5476875"/>
            <a:ext cx="600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A8351A"/>
                </a:solidFill>
                <a:latin typeface="思源黑体"/>
                <a:ea typeface="思源黑体"/>
              </a:rPr>
              <a:t xml:space="preserve">8 </a:t>
            </a:r>
            <a:r>
              <a:rPr lang="zh-CN" sz="1650" b="1">
                <a:solidFill>
                  <a:srgbClr val="A8351A"/>
                </a:solidFill>
                <a:latin typeface="思源黑体"/>
                <a:ea typeface="思源黑体"/>
              </a:rPr>
              <a:t>分钟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591800" y="552450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8351A"/>
                </a:solidFill>
                <a:latin typeface="思源黑体"/>
                <a:ea typeface="思源黑体"/>
              </a:rPr>
              <a:t>之后</a:t>
            </a:r>
            <a:r>
              <a:rPr lang="en-US" sz="1050">
                <a:solidFill>
                  <a:srgbClr val="A8351A"/>
                </a:solidFill>
                <a:latin typeface="思源黑体"/>
                <a:ea typeface="思源黑体"/>
              </a:rPr>
              <a:t xml:space="preserve"> 1–2 </a:t>
            </a:r>
            <a:r>
              <a:rPr lang="zh-CN" sz="1050">
                <a:solidFill>
                  <a:srgbClr val="A8351A"/>
                </a:solidFill>
                <a:latin typeface="思源黑体"/>
                <a:ea typeface="思源黑体"/>
              </a:rPr>
              <a:t>分钟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952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1A1A"/>
                </a:solidFill>
                <a:latin typeface="思源黑体"/>
                <a:ea typeface="思源黑体"/>
              </a:rPr>
              <a:t>卡住了怎么办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733425"/>
            <a:ext cx="952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A8178"/>
                </a:solidFill>
                <a:latin typeface="思源黑体"/>
                <a:ea typeface="思源黑体"/>
              </a:rPr>
              <a:t>九成是环境问题，不是你操作错了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1257300"/>
            <a:ext cx="7048500" cy="4629150"/>
          </a:xfrm>
          <a:prstGeom prst="roundRect">
            <a:avLst>
              <a:gd name="adj" fmla="val 4115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1A1A1A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659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最常见的六个卡点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838200" y="1809750"/>
            <a:ext cx="6591300" cy="361950"/>
          </a:xfrm>
          <a:prstGeom prst="roundRect">
            <a:avLst>
              <a:gd name="adj" fmla="val 21053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1914525"/>
            <a:ext cx="3714750" cy="15240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351A"/>
                </a:solidFill>
                <a:latin typeface="思源黑体"/>
                <a:ea typeface="思源黑体"/>
              </a:rPr>
              <a:t>现象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52950" y="1914525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A8351A"/>
                </a:solidFill>
                <a:latin typeface="思源黑体"/>
                <a:ea typeface="思源黑体"/>
              </a:rPr>
              <a:t>怎么办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838200" y="2171700"/>
            <a:ext cx="6591300" cy="514350"/>
          </a:xfrm>
          <a:custGeom>
            <a:pathLst>
              <a:path w="692" h="54">
                <a:moveTo>
                  <a:pt x="0" y="53"/>
                </a:moveTo>
                <a:lnTo>
                  <a:pt x="692" y="53"/>
                </a:lnTo>
                <a:lnTo>
                  <a:pt x="69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38200" y="2343150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卡在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下载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 xml:space="preserve"> SDK" / </a:t>
            </a: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打包卡死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552950" y="234315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多半没装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Git LFS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，回第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1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步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38200" y="2686050"/>
            <a:ext cx="6591300" cy="514350"/>
          </a:xfrm>
          <a:custGeom>
            <a:pathLst>
              <a:path w="692" h="54">
                <a:moveTo>
                  <a:pt x="0" y="53"/>
                </a:moveTo>
                <a:lnTo>
                  <a:pt x="692" y="53"/>
                </a:lnTo>
                <a:lnTo>
                  <a:pt x="69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38200" y="2857500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报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 xml:space="preserve"> build target not supported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552950" y="285750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Unity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缺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Android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模块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38200" y="3200400"/>
            <a:ext cx="6591300" cy="514350"/>
          </a:xfrm>
          <a:custGeom>
            <a:pathLst>
              <a:path w="692" h="54">
                <a:moveTo>
                  <a:pt x="0" y="53"/>
                </a:moveTo>
                <a:lnTo>
                  <a:pt x="692" y="53"/>
                </a:lnTo>
                <a:lnTo>
                  <a:pt x="69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38200" y="3371850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模拟器起不来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 xml:space="preserve"> / device not found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552950" y="337185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重新启动模拟器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838200" y="3714750"/>
            <a:ext cx="6591300" cy="514350"/>
          </a:xfrm>
          <a:custGeom>
            <a:pathLst>
              <a:path w="692" h="54">
                <a:moveTo>
                  <a:pt x="0" y="53"/>
                </a:moveTo>
                <a:lnTo>
                  <a:pt x="692" y="53"/>
                </a:lnTo>
                <a:lnTo>
                  <a:pt x="69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38200" y="3886200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（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>Windows</a:t>
            </a: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）虚拟化未就绪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552950" y="388620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找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IT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，改完必须重启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38200" y="4229100"/>
            <a:ext cx="6591300" cy="514350"/>
          </a:xfrm>
          <a:custGeom>
            <a:pathLst>
              <a:path w="692" h="54">
                <a:moveTo>
                  <a:pt x="0" y="53"/>
                </a:moveTo>
                <a:lnTo>
                  <a:pt x="692" y="53"/>
                </a:lnTo>
                <a:lnTo>
                  <a:pt x="69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0D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8200" y="4400550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（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>Mac</a:t>
            </a: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）模拟器极慢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552950" y="4400550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芯片没到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M1 Pro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8200" y="4924425"/>
            <a:ext cx="3714750" cy="1619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从</a:t>
            </a:r>
            <a:r>
              <a:rPr lang="en-US" sz="1050">
                <a:solidFill>
                  <a:srgbClr val="1A1A1A"/>
                </a:solidFill>
                <a:latin typeface="思源黑体"/>
                <a:ea typeface="思源黑体"/>
              </a:rPr>
              <a:t xml:space="preserve"> GitHub </a:t>
            </a:r>
            <a:r>
              <a:rPr lang="zh-CN" sz="1050">
                <a:solidFill>
                  <a:srgbClr val="1A1A1A"/>
                </a:solidFill>
                <a:latin typeface="思源黑体"/>
                <a:ea typeface="思源黑体"/>
              </a:rPr>
              <a:t>拉代码失败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552950" y="4924425"/>
            <a:ext cx="2876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把报错原样发给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38200" y="5267325"/>
            <a:ext cx="6591300" cy="390525"/>
          </a:xfrm>
          <a:prstGeom prst="roundRect">
            <a:avLst>
              <a:gd name="adj" fmla="val 24390"/>
            </a:avLst>
          </a:prstGeom>
          <a:solidFill>
            <a:srgbClr val="F1E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52500" y="5381625"/>
            <a:ext cx="636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共性：都不是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你操作错了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>"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。不要自己在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Unity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里乱点乱试，把现象描述给</a:t>
            </a:r>
            <a:r>
              <a:rPr lang="en-US" sz="1050">
                <a:solidFill>
                  <a:srgbClr val="6B6560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更快。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001000" y="1257300"/>
            <a:ext cx="3581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思源黑体"/>
                <a:ea typeface="思源黑体"/>
              </a:rPr>
              <a:t>三件千万别做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8001000" y="1762125"/>
            <a:ext cx="3581400" cy="121920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72450" y="1933575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172450" y="231457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别自己在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 xml:space="preserve"> Unity </a:t>
            </a: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里点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72450" y="2562225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9C0B4"/>
                </a:solidFill>
                <a:latin typeface="思源黑体"/>
                <a:ea typeface="思源黑体"/>
              </a:rPr>
              <a:t>状态很容易改乱，之后</a:t>
            </a:r>
            <a:r>
              <a:rPr lang="en-US" sz="1050">
                <a:solidFill>
                  <a:srgbClr val="C9C0B4"/>
                </a:solidFill>
                <a:latin typeface="思源黑体"/>
                <a:ea typeface="思源黑体"/>
              </a:rPr>
              <a:t xml:space="preserve"> AI </a:t>
            </a:r>
            <a:r>
              <a:rPr lang="zh-CN" sz="1050">
                <a:solidFill>
                  <a:srgbClr val="C9C0B4"/>
                </a:solidFill>
                <a:latin typeface="思源黑体"/>
                <a:ea typeface="思源黑体"/>
              </a:rPr>
              <a:t>排查更费时间。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001000" y="3219450"/>
            <a:ext cx="35814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72450" y="339090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172450" y="37719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别接受</a:t>
            </a:r>
            <a:r>
              <a:rPr lang="en-US" sz="13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应该可以了</a:t>
            </a:r>
            <a:r>
              <a:rPr lang="en-US" sz="1350" b="1">
                <a:solidFill>
                  <a:srgbClr val="1A1A1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172450" y="40195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没有截图就是没验证，坚持要它截图。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001000" y="4667250"/>
            <a:ext cx="358140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1A1A1A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172450" y="4838700"/>
            <a:ext cx="3238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97316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172450" y="52197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1A1A"/>
                </a:solidFill>
                <a:latin typeface="思源黑体"/>
                <a:ea typeface="思源黑体"/>
              </a:rPr>
              <a:t>别先纠结美术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172450" y="5467350"/>
            <a:ext cx="3238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B6560"/>
                </a:solidFill>
                <a:latin typeface="思源黑体"/>
                <a:ea typeface="思源黑体"/>
              </a:rPr>
              <a:t>先用方块球体把玩法跑通，模型永远可以后补。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172825" y="65627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76300" y="323850"/>
            <a:ext cx="71437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0" b="1">
                <a:solidFill>
                  <a:srgbClr val="F97316">
                    <a:alpha val="14000"/>
                  </a:srgbClr>
                </a:solidFill>
                <a:latin typeface="思源黑体"/>
                <a:ea typeface="思源黑体"/>
              </a:rPr>
              <a:t>“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9715500" y="4419600"/>
            <a:ext cx="2190750" cy="219075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914400" y="5467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BBF24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3533775" y="781050"/>
            <a:ext cx="15240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743325" y="92392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你判断，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动手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5191125" y="781050"/>
            <a:ext cx="1514475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400675" y="923925"/>
            <a:ext cx="1095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没截图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 xml:space="preserve"> = </a:t>
            </a: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没做完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838950" y="781050"/>
            <a:ext cx="18288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0D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048500" y="923925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3A36"/>
                </a:solidFill>
                <a:latin typeface="思源黑体"/>
                <a:ea typeface="思源黑体"/>
              </a:rPr>
              <a:t>卡住就把现象发给</a:t>
            </a:r>
            <a:r>
              <a:rPr lang="en-US" sz="1200">
                <a:solidFill>
                  <a:srgbClr val="3F3A36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734050" y="1876425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375">
                <a:solidFill>
                  <a:srgbClr val="F97316"/>
                </a:solidFill>
                <a:latin typeface="思源黑体"/>
                <a:ea typeface="思源黑体"/>
              </a:rPr>
              <a:t>最后一句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352800" y="2286000"/>
            <a:ext cx="5486400" cy="177165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>
                <a:solidFill>
                  <a:srgbClr val="1A1A1A"/>
                </a:solidFill>
                <a:latin typeface="思源黑体"/>
                <a:ea typeface="思源黑体"/>
              </a:rPr>
              <a:t>你负责想要什么，</a:t>
            </a:r>
            <a:endParaRPr/>
          </a:p>
          <a:p>
            <a:pPr algn="ctr">
              <a:lnSpc>
                <a:spcPct val="125000"/>
              </a:lnSpc>
            </a:pPr>
            <a:r>
              <a:rPr lang="en-US" sz="4650" b="1">
                <a:solidFill>
                  <a:srgbClr val="1A1A1A"/>
                </a:solidFill>
                <a:latin typeface="思源黑体"/>
                <a:ea typeface="思源黑体"/>
              </a:rPr>
              <a:t xml:space="preserve">AI </a:t>
            </a:r>
            <a:r>
              <a:rPr lang="zh-CN" sz="4650" b="1">
                <a:solidFill>
                  <a:srgbClr val="1A1A1A"/>
                </a:solidFill>
                <a:latin typeface="思源黑体"/>
                <a:ea typeface="思源黑体"/>
              </a:rPr>
              <a:t>负责把它做出来。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791200" y="438150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162425" y="4705350"/>
            <a:ext cx="38766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>
                <a:solidFill>
                  <a:srgbClr val="6B6560"/>
                </a:solidFill>
                <a:latin typeface="思源黑体"/>
                <a:ea typeface="思源黑体"/>
              </a:rPr>
              <a:t>你不是程序员，你是</a:t>
            </a:r>
            <a:r>
              <a:rPr lang="en-US" sz="1800">
                <a:solidFill>
                  <a:srgbClr val="6B6560"/>
                </a:solidFill>
                <a:latin typeface="思源黑体"/>
                <a:ea typeface="思源黑体"/>
              </a:rPr>
              <a:t xml:space="preserve"> VR </a:t>
            </a:r>
            <a:r>
              <a:rPr lang="zh-CN" sz="1800">
                <a:solidFill>
                  <a:srgbClr val="6B6560"/>
                </a:solidFill>
                <a:latin typeface="思源黑体"/>
                <a:ea typeface="思源黑体"/>
              </a:rPr>
              <a:t>游戏的</a:t>
            </a:r>
            <a:r>
              <a:rPr lang="zh-CN" sz="1800" b="1">
                <a:solidFill>
                  <a:srgbClr val="F97316"/>
                </a:solidFill>
                <a:latin typeface="思源黑体"/>
                <a:ea typeface="思源黑体"/>
              </a:rPr>
              <a:t>监制</a:t>
            </a:r>
            <a:r>
              <a:rPr lang="zh-CN" sz="1800">
                <a:solidFill>
                  <a:srgbClr val="6B6560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857875" y="4762500"/>
            <a:ext cx="48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225">
                <a:solidFill>
                  <a:srgbClr val="8A8178"/>
                </a:solidFill>
                <a:latin typeface="思源黑体"/>
                <a:ea typeface="思源黑体"/>
              </a:rPr>
              <a:t>下一步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171950" y="5038725"/>
            <a:ext cx="3848100" cy="5334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438650" y="5200650"/>
            <a:ext cx="3314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思源黑体"/>
                <a:ea typeface="思源黑体"/>
              </a:rPr>
              <a:t>把你的电脑跑通一圈，卡住就把现象发给</a:t>
            </a:r>
            <a:r>
              <a:rPr lang="en-US" sz="1350" b="1">
                <a:solidFill>
                  <a:srgbClr val="FFFFFF"/>
                </a:solidFill>
                <a:latin typeface="思源黑体"/>
                <a:ea typeface="思源黑体"/>
              </a:rPr>
              <a:t xml:space="preserve"> AI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PICO VR </a:t>
            </a:r>
            <a:r>
              <a:rPr lang="zh-CN" sz="1050">
                <a:solidFill>
                  <a:srgbClr val="8A8178"/>
                </a:solidFill>
                <a:latin typeface="思源黑体"/>
                <a:ea typeface="思源黑体"/>
              </a:rPr>
              <a:t>新人培训</a:t>
            </a: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 xml:space="preserve"> · 2026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1728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178"/>
                </a:solidFill>
                <a:latin typeface="思源黑体"/>
                <a:ea typeface="思源黑体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2026-10-27T12:14:09Z</dcterms:created>
  <dcterms:modified xsi:type="dcterms:W3CDTF">2026-10-27T12:14:09Z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{"AIGC":{"Label":"1","ContentProducer":"00119111010856365494821B355","ProduceID":"01a17b70070c72729fffe3755347b225","ReservedCode1":"","ContentPropagator":"00119111010856365494821B355","PropagateID":"01a17b70070c72729fffe3755347b225","ReservedCode2":""}}</vt:lpwstr>
  </property>
</Properties>
</file>